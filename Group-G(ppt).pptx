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Montserrat" panose="00000500000000000000" pitchFamily="2" charset="0"/>
      <p:regular r:id="rId19"/>
    </p:embeddedFont>
    <p:embeddedFont>
      <p:font typeface="Montserrat Bold" panose="00000800000000000000" charset="0"/>
      <p:regular r:id="rId20"/>
    </p:embeddedFont>
    <p:embeddedFont>
      <p:font typeface="Montserrat Ultra-Bold" panose="020B0604020202020204" charset="0"/>
      <p:regular r:id="rId21"/>
    </p:embeddedFont>
    <p:embeddedFont>
      <p:font typeface="Poppins" panose="00000500000000000000" pitchFamily="2" charset="0"/>
      <p:regular r:id="rId22"/>
    </p:embeddedFont>
    <p:embeddedFont>
      <p:font typeface="Poppins Bold" panose="020B0604020202020204" charset="0"/>
      <p:regular r:id="rId23"/>
    </p:embeddedFont>
    <p:embeddedFont>
      <p:font typeface="Poppins Italics" panose="020B0604020202020204" charset="0"/>
      <p:regular r:id="rId24"/>
    </p:embeddedFont>
    <p:embeddedFont>
      <p:font typeface="Poppins Semi-Bold" panose="020B0604020202020204" charset="0"/>
      <p:regular r:id="rId25"/>
    </p:embeddedFont>
    <p:embeddedFont>
      <p:font typeface="Roboto" panose="02000000000000000000" pitchFamily="2" charset="0"/>
      <p:regular r:id="rId26"/>
    </p:embeddedFont>
    <p:embeddedFont>
      <p:font typeface="Roboto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AED2"/>
    <a:srgbClr val="E3AFD1"/>
    <a:srgbClr val="FFE8A3"/>
    <a:srgbClr val="B5EBEF"/>
    <a:srgbClr val="FFBEC4"/>
    <a:srgbClr val="EAE0FF"/>
    <a:srgbClr val="9366E4"/>
    <a:srgbClr val="F9A8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676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sv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0.svg"/><Relationship Id="rId7" Type="http://schemas.openxmlformats.org/officeDocument/2006/relationships/image" Target="../media/image8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Relationship Id="rId9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7" Type="http://schemas.openxmlformats.org/officeDocument/2006/relationships/image" Target="../media/image46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7" Type="http://schemas.openxmlformats.org/officeDocument/2006/relationships/image" Target="../media/image6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4.svg"/><Relationship Id="rId7" Type="http://schemas.openxmlformats.org/officeDocument/2006/relationships/image" Target="../media/image46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6.svg"/><Relationship Id="rId10" Type="http://schemas.openxmlformats.org/officeDocument/2006/relationships/image" Target="../media/image49.png"/><Relationship Id="rId4" Type="http://schemas.openxmlformats.org/officeDocument/2006/relationships/image" Target="../media/image5.png"/><Relationship Id="rId9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32.svg"/><Relationship Id="rId7" Type="http://schemas.openxmlformats.org/officeDocument/2006/relationships/image" Target="../media/image53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svg"/><Relationship Id="rId4" Type="http://schemas.openxmlformats.org/officeDocument/2006/relationships/image" Target="../media/image50.png"/><Relationship Id="rId9" Type="http://schemas.openxmlformats.org/officeDocument/2006/relationships/image" Target="../media/image5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svg"/><Relationship Id="rId4" Type="http://schemas.openxmlformats.org/officeDocument/2006/relationships/image" Target="../media/image5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svg"/><Relationship Id="rId7" Type="http://schemas.openxmlformats.org/officeDocument/2006/relationships/image" Target="../media/image65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svg"/><Relationship Id="rId4" Type="http://schemas.openxmlformats.org/officeDocument/2006/relationships/image" Target="../media/image62.png"/><Relationship Id="rId9" Type="http://schemas.openxmlformats.org/officeDocument/2006/relationships/image" Target="../media/image67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57.svg"/><Relationship Id="rId7" Type="http://schemas.openxmlformats.org/officeDocument/2006/relationships/image" Target="../media/image69.sv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59.svg"/><Relationship Id="rId4" Type="http://schemas.openxmlformats.org/officeDocument/2006/relationships/image" Target="../media/image58.png"/><Relationship Id="rId9" Type="http://schemas.openxmlformats.org/officeDocument/2006/relationships/image" Target="../media/image71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svg"/><Relationship Id="rId7" Type="http://schemas.openxmlformats.org/officeDocument/2006/relationships/image" Target="../media/image65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11" Type="http://schemas.openxmlformats.org/officeDocument/2006/relationships/image" Target="../media/image73.svg"/><Relationship Id="rId5" Type="http://schemas.openxmlformats.org/officeDocument/2006/relationships/image" Target="../media/image63.svg"/><Relationship Id="rId10" Type="http://schemas.openxmlformats.org/officeDocument/2006/relationships/image" Target="../media/image72.png"/><Relationship Id="rId4" Type="http://schemas.openxmlformats.org/officeDocument/2006/relationships/image" Target="../media/image62.png"/><Relationship Id="rId9" Type="http://schemas.openxmlformats.org/officeDocument/2006/relationships/image" Target="../media/image6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svg"/><Relationship Id="rId4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svg"/><Relationship Id="rId7" Type="http://schemas.openxmlformats.org/officeDocument/2006/relationships/image" Target="../media/image65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svg"/><Relationship Id="rId4" Type="http://schemas.openxmlformats.org/officeDocument/2006/relationships/image" Target="../media/image62.png"/><Relationship Id="rId9" Type="http://schemas.openxmlformats.org/officeDocument/2006/relationships/image" Target="../media/image6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svg"/><Relationship Id="rId4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79.svg"/><Relationship Id="rId3" Type="http://schemas.openxmlformats.org/officeDocument/2006/relationships/image" Target="../media/image57.svg"/><Relationship Id="rId7" Type="http://schemas.openxmlformats.org/officeDocument/2006/relationships/image" Target="../media/image75.svg"/><Relationship Id="rId12" Type="http://schemas.openxmlformats.org/officeDocument/2006/relationships/image" Target="../media/image78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59.svg"/><Relationship Id="rId5" Type="http://schemas.openxmlformats.org/officeDocument/2006/relationships/image" Target="../media/image2.svg"/><Relationship Id="rId10" Type="http://schemas.openxmlformats.org/officeDocument/2006/relationships/image" Target="../media/image58.png"/><Relationship Id="rId4" Type="http://schemas.openxmlformats.org/officeDocument/2006/relationships/image" Target="../media/image1.png"/><Relationship Id="rId9" Type="http://schemas.openxmlformats.org/officeDocument/2006/relationships/image" Target="../media/image7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C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98887" y="2282642"/>
            <a:ext cx="12943325" cy="5721715"/>
            <a:chOff x="0" y="0"/>
            <a:chExt cx="3408941" cy="1506954"/>
          </a:xfrm>
          <a:solidFill>
            <a:srgbClr val="E3AFD1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3408942" cy="1506954"/>
            </a:xfrm>
            <a:custGeom>
              <a:avLst/>
              <a:gdLst/>
              <a:ahLst/>
              <a:cxnLst/>
              <a:rect l="l" t="t" r="r" b="b"/>
              <a:pathLst>
                <a:path w="3408942" h="1506954">
                  <a:moveTo>
                    <a:pt x="0" y="0"/>
                  </a:moveTo>
                  <a:lnTo>
                    <a:pt x="3408942" y="0"/>
                  </a:lnTo>
                  <a:lnTo>
                    <a:pt x="3408942" y="1506954"/>
                  </a:lnTo>
                  <a:lnTo>
                    <a:pt x="0" y="1506954"/>
                  </a:lnTo>
                  <a:close/>
                </a:path>
              </a:pathLst>
            </a:custGeom>
            <a:grpFill/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408941" cy="155457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089362" y="2234540"/>
            <a:ext cx="8375570" cy="988552"/>
            <a:chOff x="0" y="0"/>
            <a:chExt cx="2205911" cy="2603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05911" cy="260359"/>
            </a:xfrm>
            <a:custGeom>
              <a:avLst/>
              <a:gdLst/>
              <a:ahLst/>
              <a:cxnLst/>
              <a:rect l="l" t="t" r="r" b="b"/>
              <a:pathLst>
                <a:path w="2205911" h="260359">
                  <a:moveTo>
                    <a:pt x="0" y="0"/>
                  </a:moveTo>
                  <a:lnTo>
                    <a:pt x="2205911" y="0"/>
                  </a:lnTo>
                  <a:lnTo>
                    <a:pt x="2205911" y="260359"/>
                  </a:lnTo>
                  <a:lnTo>
                    <a:pt x="0" y="260359"/>
                  </a:lnTo>
                  <a:close/>
                </a:path>
              </a:pathLst>
            </a:custGeom>
            <a:solidFill>
              <a:srgbClr val="E9917E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205911" cy="3079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626013" y="8379212"/>
            <a:ext cx="3633287" cy="806156"/>
            <a:chOff x="0" y="0"/>
            <a:chExt cx="956915" cy="21232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6915" cy="212321"/>
            </a:xfrm>
            <a:custGeom>
              <a:avLst/>
              <a:gdLst/>
              <a:ahLst/>
              <a:cxnLst/>
              <a:rect l="l" t="t" r="r" b="b"/>
              <a:pathLst>
                <a:path w="956915" h="212321">
                  <a:moveTo>
                    <a:pt x="0" y="0"/>
                  </a:moveTo>
                  <a:lnTo>
                    <a:pt x="956915" y="0"/>
                  </a:lnTo>
                  <a:lnTo>
                    <a:pt x="956915" y="212321"/>
                  </a:lnTo>
                  <a:lnTo>
                    <a:pt x="0" y="212321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56915" cy="259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2546526">
            <a:off x="3052175" y="2089639"/>
            <a:ext cx="1075583" cy="1013003"/>
          </a:xfrm>
          <a:custGeom>
            <a:avLst/>
            <a:gdLst/>
            <a:ahLst/>
            <a:cxnLst/>
            <a:rect l="l" t="t" r="r" b="b"/>
            <a:pathLst>
              <a:path w="1075583" h="1013003">
                <a:moveTo>
                  <a:pt x="0" y="0"/>
                </a:moveTo>
                <a:lnTo>
                  <a:pt x="1075583" y="0"/>
                </a:lnTo>
                <a:lnTo>
                  <a:pt x="1075583" y="1013003"/>
                </a:lnTo>
                <a:lnTo>
                  <a:pt x="0" y="1013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5400000">
            <a:off x="9928541" y="1811599"/>
            <a:ext cx="361556" cy="1930638"/>
          </a:xfrm>
          <a:custGeom>
            <a:avLst/>
            <a:gdLst/>
            <a:ahLst/>
            <a:cxnLst/>
            <a:rect l="l" t="t" r="r" b="b"/>
            <a:pathLst>
              <a:path w="361556" h="1930638">
                <a:moveTo>
                  <a:pt x="0" y="0"/>
                </a:moveTo>
                <a:lnTo>
                  <a:pt x="361556" y="0"/>
                </a:lnTo>
                <a:lnTo>
                  <a:pt x="361556" y="1930638"/>
                </a:lnTo>
                <a:lnTo>
                  <a:pt x="0" y="1930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028700" y="1028700"/>
            <a:ext cx="3913835" cy="806156"/>
            <a:chOff x="0" y="0"/>
            <a:chExt cx="1030804" cy="21232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30804" cy="212321"/>
            </a:xfrm>
            <a:custGeom>
              <a:avLst/>
              <a:gdLst/>
              <a:ahLst/>
              <a:cxnLst/>
              <a:rect l="l" t="t" r="r" b="b"/>
              <a:pathLst>
                <a:path w="1030804" h="212321">
                  <a:moveTo>
                    <a:pt x="0" y="0"/>
                  </a:moveTo>
                  <a:lnTo>
                    <a:pt x="1030804" y="0"/>
                  </a:lnTo>
                  <a:lnTo>
                    <a:pt x="1030804" y="212321"/>
                  </a:lnTo>
                  <a:lnTo>
                    <a:pt x="0" y="212321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030804" cy="259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-1441622" y="7686469"/>
            <a:ext cx="4052975" cy="4114800"/>
          </a:xfrm>
          <a:custGeom>
            <a:avLst/>
            <a:gdLst/>
            <a:ahLst/>
            <a:cxnLst/>
            <a:rect l="l" t="t" r="r" b="b"/>
            <a:pathLst>
              <a:path w="4052975" h="4114800">
                <a:moveTo>
                  <a:pt x="0" y="0"/>
                </a:moveTo>
                <a:lnTo>
                  <a:pt x="4052975" y="0"/>
                </a:lnTo>
                <a:lnTo>
                  <a:pt x="40529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6389525">
            <a:off x="14579560" y="-1014971"/>
            <a:ext cx="4919870" cy="4114800"/>
          </a:xfrm>
          <a:custGeom>
            <a:avLst/>
            <a:gdLst/>
            <a:ahLst/>
            <a:cxnLst/>
            <a:rect l="l" t="t" r="r" b="b"/>
            <a:pathLst>
              <a:path w="4919870" h="4114800">
                <a:moveTo>
                  <a:pt x="0" y="0"/>
                </a:moveTo>
                <a:lnTo>
                  <a:pt x="4919869" y="0"/>
                </a:lnTo>
                <a:lnTo>
                  <a:pt x="49198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3012774" y="3685269"/>
            <a:ext cx="13115550" cy="1571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ENHANCING ROBUST FRAUD DETECTION FOR GCC FINANCIAL SYSTEMS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023049" y="8642628"/>
            <a:ext cx="2839215" cy="326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9"/>
              </a:lnSpc>
            </a:pPr>
            <a:r>
              <a:rPr lang="en-US" sz="2499" spc="4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PRESENTATION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42595" y="1238047"/>
            <a:ext cx="2286045" cy="444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33"/>
              </a:lnSpc>
            </a:pPr>
            <a:r>
              <a:rPr lang="en-US" sz="3299" spc="6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Paper on 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98887" y="5637284"/>
            <a:ext cx="12943325" cy="1380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Presented by : Group G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Kazi Namira Meyheg Sanam (ID:C231450)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Umme Benin Yeasmin Meem (ID: C231452)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1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11811" y="2022848"/>
            <a:ext cx="6592547" cy="3359583"/>
            <a:chOff x="0" y="0"/>
            <a:chExt cx="1865624" cy="1111813"/>
          </a:xfrm>
          <a:solidFill>
            <a:srgbClr val="FFE8A3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1865624" cy="1111814"/>
            </a:xfrm>
            <a:custGeom>
              <a:avLst/>
              <a:gdLst/>
              <a:ahLst/>
              <a:cxnLst/>
              <a:rect l="l" t="t" r="r" b="b"/>
              <a:pathLst>
                <a:path w="1865624" h="1111814">
                  <a:moveTo>
                    <a:pt x="0" y="0"/>
                  </a:moveTo>
                  <a:lnTo>
                    <a:pt x="1865624" y="0"/>
                  </a:lnTo>
                  <a:lnTo>
                    <a:pt x="1865624" y="1111814"/>
                  </a:lnTo>
                  <a:lnTo>
                    <a:pt x="0" y="1111814"/>
                  </a:lnTo>
                  <a:close/>
                </a:path>
              </a:pathLst>
            </a:custGeom>
            <a:grpFill/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65624" cy="115943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911811" y="2023897"/>
            <a:ext cx="6592547" cy="890663"/>
            <a:chOff x="0" y="0"/>
            <a:chExt cx="1865624" cy="2520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65624" cy="252048"/>
            </a:xfrm>
            <a:custGeom>
              <a:avLst/>
              <a:gdLst/>
              <a:ahLst/>
              <a:cxnLst/>
              <a:rect l="l" t="t" r="r" b="b"/>
              <a:pathLst>
                <a:path w="1865624" h="252048">
                  <a:moveTo>
                    <a:pt x="0" y="0"/>
                  </a:moveTo>
                  <a:lnTo>
                    <a:pt x="1865624" y="0"/>
                  </a:lnTo>
                  <a:lnTo>
                    <a:pt x="1865624" y="252048"/>
                  </a:lnTo>
                  <a:lnTo>
                    <a:pt x="0" y="252048"/>
                  </a:lnTo>
                  <a:close/>
                </a:path>
              </a:pathLst>
            </a:custGeom>
            <a:solidFill>
              <a:srgbClr val="D8CFEE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865624" cy="2996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2546526">
            <a:off x="1789310" y="1629789"/>
            <a:ext cx="1001029" cy="942787"/>
          </a:xfrm>
          <a:custGeom>
            <a:avLst/>
            <a:gdLst/>
            <a:ahLst/>
            <a:cxnLst/>
            <a:rect l="l" t="t" r="r" b="b"/>
            <a:pathLst>
              <a:path w="1001029" h="942787">
                <a:moveTo>
                  <a:pt x="0" y="0"/>
                </a:moveTo>
                <a:lnTo>
                  <a:pt x="1001029" y="0"/>
                </a:lnTo>
                <a:lnTo>
                  <a:pt x="1001029" y="942787"/>
                </a:lnTo>
                <a:lnTo>
                  <a:pt x="0" y="94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253082">
            <a:off x="16283426" y="-1026902"/>
            <a:ext cx="4508774" cy="5298773"/>
          </a:xfrm>
          <a:custGeom>
            <a:avLst/>
            <a:gdLst/>
            <a:ahLst/>
            <a:cxnLst/>
            <a:rect l="l" t="t" r="r" b="b"/>
            <a:pathLst>
              <a:path w="4508774" h="5298773">
                <a:moveTo>
                  <a:pt x="0" y="0"/>
                </a:moveTo>
                <a:lnTo>
                  <a:pt x="4508774" y="0"/>
                </a:lnTo>
                <a:lnTo>
                  <a:pt x="4508774" y="5298774"/>
                </a:lnTo>
                <a:lnTo>
                  <a:pt x="0" y="52987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055939">
            <a:off x="14026715" y="8965134"/>
            <a:ext cx="6465169" cy="1104956"/>
          </a:xfrm>
          <a:custGeom>
            <a:avLst/>
            <a:gdLst/>
            <a:ahLst/>
            <a:cxnLst/>
            <a:rect l="l" t="t" r="r" b="b"/>
            <a:pathLst>
              <a:path w="6465169" h="1104956">
                <a:moveTo>
                  <a:pt x="0" y="0"/>
                </a:moveTo>
                <a:lnTo>
                  <a:pt x="6465170" y="0"/>
                </a:lnTo>
                <a:lnTo>
                  <a:pt x="6465170" y="1104956"/>
                </a:lnTo>
                <a:lnTo>
                  <a:pt x="0" y="11049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477926" y="-299652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2102729">
            <a:off x="2236679" y="7100930"/>
            <a:ext cx="1420785" cy="2657932"/>
          </a:xfrm>
          <a:custGeom>
            <a:avLst/>
            <a:gdLst/>
            <a:ahLst/>
            <a:cxnLst/>
            <a:rect l="l" t="t" r="r" b="b"/>
            <a:pathLst>
              <a:path w="1420785" h="2657932">
                <a:moveTo>
                  <a:pt x="0" y="0"/>
                </a:moveTo>
                <a:lnTo>
                  <a:pt x="1420785" y="0"/>
                </a:lnTo>
                <a:lnTo>
                  <a:pt x="1420785" y="2657932"/>
                </a:lnTo>
                <a:lnTo>
                  <a:pt x="0" y="26579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9434133" y="2022848"/>
            <a:ext cx="6592547" cy="3359583"/>
            <a:chOff x="0" y="0"/>
            <a:chExt cx="1865624" cy="1111813"/>
          </a:xfrm>
          <a:solidFill>
            <a:srgbClr val="FFBEC4"/>
          </a:solidFill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65624" cy="1111814"/>
            </a:xfrm>
            <a:custGeom>
              <a:avLst/>
              <a:gdLst/>
              <a:ahLst/>
              <a:cxnLst/>
              <a:rect l="l" t="t" r="r" b="b"/>
              <a:pathLst>
                <a:path w="1865624" h="1111814">
                  <a:moveTo>
                    <a:pt x="0" y="0"/>
                  </a:moveTo>
                  <a:lnTo>
                    <a:pt x="1865624" y="0"/>
                  </a:lnTo>
                  <a:lnTo>
                    <a:pt x="1865624" y="1111814"/>
                  </a:lnTo>
                  <a:lnTo>
                    <a:pt x="0" y="1111814"/>
                  </a:lnTo>
                  <a:close/>
                </a:path>
              </a:pathLst>
            </a:custGeom>
            <a:grpFill/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865624" cy="115943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434133" y="2022848"/>
            <a:ext cx="6592547" cy="890663"/>
            <a:chOff x="0" y="0"/>
            <a:chExt cx="1865624" cy="25204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65624" cy="252048"/>
            </a:xfrm>
            <a:custGeom>
              <a:avLst/>
              <a:gdLst/>
              <a:ahLst/>
              <a:cxnLst/>
              <a:rect l="l" t="t" r="r" b="b"/>
              <a:pathLst>
                <a:path w="1865624" h="252048">
                  <a:moveTo>
                    <a:pt x="0" y="0"/>
                  </a:moveTo>
                  <a:lnTo>
                    <a:pt x="1865624" y="0"/>
                  </a:lnTo>
                  <a:lnTo>
                    <a:pt x="1865624" y="252048"/>
                  </a:lnTo>
                  <a:lnTo>
                    <a:pt x="0" y="252048"/>
                  </a:lnTo>
                  <a:close/>
                </a:path>
              </a:pathLst>
            </a:custGeom>
            <a:solidFill>
              <a:srgbClr val="D8CFEE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865624" cy="2996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 rot="2546526">
            <a:off x="9311632" y="1628740"/>
            <a:ext cx="1001029" cy="942787"/>
          </a:xfrm>
          <a:custGeom>
            <a:avLst/>
            <a:gdLst/>
            <a:ahLst/>
            <a:cxnLst/>
            <a:rect l="l" t="t" r="r" b="b"/>
            <a:pathLst>
              <a:path w="1001029" h="942787">
                <a:moveTo>
                  <a:pt x="0" y="0"/>
                </a:moveTo>
                <a:lnTo>
                  <a:pt x="1001029" y="0"/>
                </a:lnTo>
                <a:lnTo>
                  <a:pt x="1001029" y="942787"/>
                </a:lnTo>
                <a:lnTo>
                  <a:pt x="0" y="94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9434133" y="6150200"/>
            <a:ext cx="6592547" cy="3390210"/>
            <a:chOff x="0" y="0"/>
            <a:chExt cx="1865624" cy="1111814"/>
          </a:xfrm>
          <a:solidFill>
            <a:srgbClr val="FFE8A3"/>
          </a:solidFill>
        </p:grpSpPr>
        <p:sp>
          <p:nvSpPr>
            <p:cNvPr id="21" name="Freeform 21"/>
            <p:cNvSpPr/>
            <p:nvPr/>
          </p:nvSpPr>
          <p:spPr>
            <a:xfrm>
              <a:off x="0" y="0"/>
              <a:ext cx="1865624" cy="1111814"/>
            </a:xfrm>
            <a:custGeom>
              <a:avLst/>
              <a:gdLst/>
              <a:ahLst/>
              <a:cxnLst/>
              <a:rect l="l" t="t" r="r" b="b"/>
              <a:pathLst>
                <a:path w="1865624" h="1111814">
                  <a:moveTo>
                    <a:pt x="0" y="0"/>
                  </a:moveTo>
                  <a:lnTo>
                    <a:pt x="1865624" y="0"/>
                  </a:lnTo>
                  <a:lnTo>
                    <a:pt x="1865624" y="1111814"/>
                  </a:lnTo>
                  <a:lnTo>
                    <a:pt x="0" y="1111814"/>
                  </a:lnTo>
                  <a:close/>
                </a:path>
              </a:pathLst>
            </a:custGeom>
            <a:grpFill/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8731" y="340433"/>
              <a:ext cx="1732090" cy="3482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561341" lvl="1" indent="-280670" algn="ctr">
                <a:lnSpc>
                  <a:spcPts val="3640"/>
                </a:lnSpc>
                <a:buFont typeface="Arial"/>
                <a:buChar char="•"/>
              </a:pPr>
              <a:r>
                <a:rPr lang="en-US" sz="26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Reduces operational false alarms by 1,192 per 10,000 daily transactions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434133" y="6150199"/>
            <a:ext cx="6592547" cy="890663"/>
            <a:chOff x="0" y="0"/>
            <a:chExt cx="1865624" cy="25204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865624" cy="252048"/>
            </a:xfrm>
            <a:custGeom>
              <a:avLst/>
              <a:gdLst/>
              <a:ahLst/>
              <a:cxnLst/>
              <a:rect l="l" t="t" r="r" b="b"/>
              <a:pathLst>
                <a:path w="1865624" h="252048">
                  <a:moveTo>
                    <a:pt x="0" y="0"/>
                  </a:moveTo>
                  <a:lnTo>
                    <a:pt x="1865624" y="0"/>
                  </a:lnTo>
                  <a:lnTo>
                    <a:pt x="1865624" y="252048"/>
                  </a:lnTo>
                  <a:lnTo>
                    <a:pt x="0" y="252048"/>
                  </a:lnTo>
                  <a:close/>
                </a:path>
              </a:pathLst>
            </a:custGeom>
            <a:solidFill>
              <a:srgbClr val="D8CFEE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865624" cy="2996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2546526">
            <a:off x="9311632" y="5756091"/>
            <a:ext cx="1001029" cy="942787"/>
          </a:xfrm>
          <a:custGeom>
            <a:avLst/>
            <a:gdLst/>
            <a:ahLst/>
            <a:cxnLst/>
            <a:rect l="l" t="t" r="r" b="b"/>
            <a:pathLst>
              <a:path w="1001029" h="942787">
                <a:moveTo>
                  <a:pt x="0" y="0"/>
                </a:moveTo>
                <a:lnTo>
                  <a:pt x="1001029" y="0"/>
                </a:lnTo>
                <a:lnTo>
                  <a:pt x="1001029" y="942787"/>
                </a:lnTo>
                <a:lnTo>
                  <a:pt x="0" y="94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1911811" y="6150199"/>
            <a:ext cx="6592547" cy="3390210"/>
            <a:chOff x="0" y="0"/>
            <a:chExt cx="1865624" cy="1111813"/>
          </a:xfrm>
          <a:solidFill>
            <a:srgbClr val="B5EBEF"/>
          </a:solidFill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65624" cy="1111814"/>
            </a:xfrm>
            <a:custGeom>
              <a:avLst/>
              <a:gdLst/>
              <a:ahLst/>
              <a:cxnLst/>
              <a:rect l="l" t="t" r="r" b="b"/>
              <a:pathLst>
                <a:path w="1865624" h="1111814">
                  <a:moveTo>
                    <a:pt x="0" y="0"/>
                  </a:moveTo>
                  <a:lnTo>
                    <a:pt x="1865624" y="0"/>
                  </a:lnTo>
                  <a:lnTo>
                    <a:pt x="1865624" y="1111814"/>
                  </a:lnTo>
                  <a:lnTo>
                    <a:pt x="0" y="1111814"/>
                  </a:lnTo>
                  <a:close/>
                </a:path>
              </a:pathLst>
            </a:custGeom>
            <a:grpFill/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1865624" cy="115943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911811" y="6150199"/>
            <a:ext cx="6592547" cy="890663"/>
            <a:chOff x="0" y="0"/>
            <a:chExt cx="1865624" cy="25204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865624" cy="252048"/>
            </a:xfrm>
            <a:custGeom>
              <a:avLst/>
              <a:gdLst/>
              <a:ahLst/>
              <a:cxnLst/>
              <a:rect l="l" t="t" r="r" b="b"/>
              <a:pathLst>
                <a:path w="1865624" h="252048">
                  <a:moveTo>
                    <a:pt x="0" y="0"/>
                  </a:moveTo>
                  <a:lnTo>
                    <a:pt x="1865624" y="0"/>
                  </a:lnTo>
                  <a:lnTo>
                    <a:pt x="1865624" y="252048"/>
                  </a:lnTo>
                  <a:lnTo>
                    <a:pt x="0" y="252048"/>
                  </a:lnTo>
                  <a:close/>
                </a:path>
              </a:pathLst>
            </a:custGeom>
            <a:solidFill>
              <a:srgbClr val="D8CFEE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1865624" cy="2996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 rot="2546526">
            <a:off x="1789310" y="5756091"/>
            <a:ext cx="1001029" cy="942787"/>
          </a:xfrm>
          <a:custGeom>
            <a:avLst/>
            <a:gdLst/>
            <a:ahLst/>
            <a:cxnLst/>
            <a:rect l="l" t="t" r="r" b="b"/>
            <a:pathLst>
              <a:path w="1001029" h="942787">
                <a:moveTo>
                  <a:pt x="0" y="0"/>
                </a:moveTo>
                <a:lnTo>
                  <a:pt x="1001029" y="0"/>
                </a:lnTo>
                <a:lnTo>
                  <a:pt x="1001029" y="942787"/>
                </a:lnTo>
                <a:lnTo>
                  <a:pt x="0" y="94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911811" y="2181239"/>
            <a:ext cx="6592547" cy="556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Fraud Challenges in GCC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34133" y="2152675"/>
            <a:ext cx="6592547" cy="556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Proposed Framework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911811" y="6278976"/>
            <a:ext cx="6592547" cy="556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Performance Metrics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434133" y="6256459"/>
            <a:ext cx="6592547" cy="556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Proposed Framework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4705480" y="255455"/>
            <a:ext cx="8322398" cy="1160088"/>
            <a:chOff x="0" y="0"/>
            <a:chExt cx="2191907" cy="30553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191907" cy="305538"/>
            </a:xfrm>
            <a:custGeom>
              <a:avLst/>
              <a:gdLst/>
              <a:ahLst/>
              <a:cxnLst/>
              <a:rect l="l" t="t" r="r" b="b"/>
              <a:pathLst>
                <a:path w="2191907" h="305538">
                  <a:moveTo>
                    <a:pt x="47443" y="0"/>
                  </a:moveTo>
                  <a:lnTo>
                    <a:pt x="2144464" y="0"/>
                  </a:lnTo>
                  <a:cubicBezTo>
                    <a:pt x="2170666" y="0"/>
                    <a:pt x="2191907" y="21241"/>
                    <a:pt x="2191907" y="47443"/>
                  </a:cubicBezTo>
                  <a:lnTo>
                    <a:pt x="2191907" y="258095"/>
                  </a:lnTo>
                  <a:cubicBezTo>
                    <a:pt x="2191907" y="284297"/>
                    <a:pt x="2170666" y="305538"/>
                    <a:pt x="2144464" y="305538"/>
                  </a:cubicBezTo>
                  <a:lnTo>
                    <a:pt x="47443" y="305538"/>
                  </a:lnTo>
                  <a:cubicBezTo>
                    <a:pt x="21241" y="305538"/>
                    <a:pt x="0" y="284297"/>
                    <a:pt x="0" y="258095"/>
                  </a:cubicBezTo>
                  <a:lnTo>
                    <a:pt x="0" y="47443"/>
                  </a:lnTo>
                  <a:cubicBezTo>
                    <a:pt x="0" y="21241"/>
                    <a:pt x="21241" y="0"/>
                    <a:pt x="47443" y="0"/>
                  </a:cubicBezTo>
                  <a:close/>
                </a:path>
              </a:pathLst>
            </a:custGeom>
            <a:solidFill>
              <a:srgbClr val="D8CFE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2191907" cy="353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5203791" y="406874"/>
            <a:ext cx="7325777" cy="809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ABSTRACT 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947071" y="3225973"/>
            <a:ext cx="3300568" cy="448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ctr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Class imbalance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947071" y="3817141"/>
            <a:ext cx="3820544" cy="448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ctr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Adversarial threats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947071" y="4408308"/>
            <a:ext cx="2953917" cy="448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ctr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Concept drift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108173" y="3225538"/>
            <a:ext cx="5458317" cy="18198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hybrid ML framework is proposed: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Adaptive k-neighbor SMOTE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Hybrid resampling 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Regularized XGBoost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200400" y="7277100"/>
            <a:ext cx="3705583" cy="1819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85.81% recall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28.22% precision 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42.47% F1-score 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96.94% AUC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C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67000" y="5281912"/>
            <a:ext cx="3730256" cy="3750076"/>
            <a:chOff x="0" y="0"/>
            <a:chExt cx="982454" cy="987674"/>
          </a:xfrm>
          <a:solidFill>
            <a:srgbClr val="FFE8A3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982454" cy="987675"/>
            </a:xfrm>
            <a:custGeom>
              <a:avLst/>
              <a:gdLst/>
              <a:ahLst/>
              <a:cxnLst/>
              <a:rect l="l" t="t" r="r" b="b"/>
              <a:pathLst>
                <a:path w="982454" h="987675">
                  <a:moveTo>
                    <a:pt x="0" y="0"/>
                  </a:moveTo>
                  <a:lnTo>
                    <a:pt x="982454" y="0"/>
                  </a:lnTo>
                  <a:lnTo>
                    <a:pt x="982454" y="987675"/>
                  </a:lnTo>
                  <a:lnTo>
                    <a:pt x="0" y="987675"/>
                  </a:lnTo>
                  <a:close/>
                </a:path>
              </a:pathLst>
            </a:custGeom>
            <a:grpFill/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82454" cy="103529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216407" y="5281912"/>
            <a:ext cx="3730256" cy="3750076"/>
            <a:chOff x="0" y="0"/>
            <a:chExt cx="982454" cy="987674"/>
          </a:xfrm>
          <a:solidFill>
            <a:srgbClr val="B5EBEF"/>
          </a:solidFill>
        </p:grpSpPr>
        <p:sp>
          <p:nvSpPr>
            <p:cNvPr id="6" name="Freeform 6"/>
            <p:cNvSpPr/>
            <p:nvPr/>
          </p:nvSpPr>
          <p:spPr>
            <a:xfrm>
              <a:off x="0" y="0"/>
              <a:ext cx="982454" cy="987675"/>
            </a:xfrm>
            <a:custGeom>
              <a:avLst/>
              <a:gdLst/>
              <a:ahLst/>
              <a:cxnLst/>
              <a:rect l="l" t="t" r="r" b="b"/>
              <a:pathLst>
                <a:path w="982454" h="987675">
                  <a:moveTo>
                    <a:pt x="0" y="0"/>
                  </a:moveTo>
                  <a:lnTo>
                    <a:pt x="982454" y="0"/>
                  </a:lnTo>
                  <a:lnTo>
                    <a:pt x="982454" y="987675"/>
                  </a:lnTo>
                  <a:lnTo>
                    <a:pt x="0" y="987675"/>
                  </a:lnTo>
                  <a:close/>
                </a:path>
              </a:pathLst>
            </a:custGeom>
            <a:grpFill/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82454" cy="103529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770096" y="5281912"/>
            <a:ext cx="3730256" cy="3750076"/>
            <a:chOff x="0" y="0"/>
            <a:chExt cx="982454" cy="987674"/>
          </a:xfrm>
          <a:solidFill>
            <a:srgbClr val="EAE0FF"/>
          </a:solidFill>
        </p:grpSpPr>
        <p:sp>
          <p:nvSpPr>
            <p:cNvPr id="9" name="Freeform 9"/>
            <p:cNvSpPr/>
            <p:nvPr/>
          </p:nvSpPr>
          <p:spPr>
            <a:xfrm>
              <a:off x="0" y="0"/>
              <a:ext cx="982454" cy="987675"/>
            </a:xfrm>
            <a:custGeom>
              <a:avLst/>
              <a:gdLst/>
              <a:ahLst/>
              <a:cxnLst/>
              <a:rect l="l" t="t" r="r" b="b"/>
              <a:pathLst>
                <a:path w="982454" h="987675">
                  <a:moveTo>
                    <a:pt x="0" y="0"/>
                  </a:moveTo>
                  <a:lnTo>
                    <a:pt x="982454" y="0"/>
                  </a:lnTo>
                  <a:lnTo>
                    <a:pt x="982454" y="987675"/>
                  </a:lnTo>
                  <a:lnTo>
                    <a:pt x="0" y="987675"/>
                  </a:lnTo>
                  <a:close/>
                </a:path>
              </a:pathLst>
            </a:custGeom>
            <a:grpFill/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82454" cy="103529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088179" y="4838883"/>
            <a:ext cx="2887898" cy="886058"/>
            <a:chOff x="0" y="0"/>
            <a:chExt cx="760599" cy="2333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0599" cy="233365"/>
            </a:xfrm>
            <a:custGeom>
              <a:avLst/>
              <a:gdLst/>
              <a:ahLst/>
              <a:cxnLst/>
              <a:rect l="l" t="t" r="r" b="b"/>
              <a:pathLst>
                <a:path w="760599" h="233365">
                  <a:moveTo>
                    <a:pt x="116683" y="0"/>
                  </a:moveTo>
                  <a:lnTo>
                    <a:pt x="643916" y="0"/>
                  </a:lnTo>
                  <a:cubicBezTo>
                    <a:pt x="708358" y="0"/>
                    <a:pt x="760599" y="52241"/>
                    <a:pt x="760599" y="116683"/>
                  </a:cubicBezTo>
                  <a:lnTo>
                    <a:pt x="760599" y="116683"/>
                  </a:lnTo>
                  <a:cubicBezTo>
                    <a:pt x="760599" y="147629"/>
                    <a:pt x="748305" y="177307"/>
                    <a:pt x="726423" y="199190"/>
                  </a:cubicBezTo>
                  <a:cubicBezTo>
                    <a:pt x="704541" y="221072"/>
                    <a:pt x="674862" y="233365"/>
                    <a:pt x="643916" y="233365"/>
                  </a:cubicBezTo>
                  <a:lnTo>
                    <a:pt x="116683" y="233365"/>
                  </a:lnTo>
                  <a:cubicBezTo>
                    <a:pt x="52241" y="233365"/>
                    <a:pt x="0" y="181125"/>
                    <a:pt x="0" y="116683"/>
                  </a:cubicBezTo>
                  <a:lnTo>
                    <a:pt x="0" y="116683"/>
                  </a:lnTo>
                  <a:cubicBezTo>
                    <a:pt x="0" y="52241"/>
                    <a:pt x="52241" y="0"/>
                    <a:pt x="116683" y="0"/>
                  </a:cubicBezTo>
                  <a:close/>
                </a:path>
              </a:pathLst>
            </a:custGeom>
            <a:solidFill>
              <a:srgbClr val="E9917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760599" cy="280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19176" y="4920193"/>
            <a:ext cx="3324717" cy="886058"/>
            <a:chOff x="0" y="0"/>
            <a:chExt cx="875646" cy="23336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75646" cy="233365"/>
            </a:xfrm>
            <a:custGeom>
              <a:avLst/>
              <a:gdLst/>
              <a:ahLst/>
              <a:cxnLst/>
              <a:rect l="l" t="t" r="r" b="b"/>
              <a:pathLst>
                <a:path w="875646" h="233365">
                  <a:moveTo>
                    <a:pt x="116683" y="0"/>
                  </a:moveTo>
                  <a:lnTo>
                    <a:pt x="758963" y="0"/>
                  </a:lnTo>
                  <a:cubicBezTo>
                    <a:pt x="823405" y="0"/>
                    <a:pt x="875646" y="52241"/>
                    <a:pt x="875646" y="116683"/>
                  </a:cubicBezTo>
                  <a:lnTo>
                    <a:pt x="875646" y="116683"/>
                  </a:lnTo>
                  <a:cubicBezTo>
                    <a:pt x="875646" y="147629"/>
                    <a:pt x="863352" y="177307"/>
                    <a:pt x="841470" y="199190"/>
                  </a:cubicBezTo>
                  <a:cubicBezTo>
                    <a:pt x="819588" y="221072"/>
                    <a:pt x="789909" y="233365"/>
                    <a:pt x="758963" y="233365"/>
                  </a:cubicBezTo>
                  <a:lnTo>
                    <a:pt x="116683" y="233365"/>
                  </a:lnTo>
                  <a:cubicBezTo>
                    <a:pt x="52241" y="233365"/>
                    <a:pt x="0" y="181125"/>
                    <a:pt x="0" y="116683"/>
                  </a:cubicBezTo>
                  <a:lnTo>
                    <a:pt x="0" y="116683"/>
                  </a:lnTo>
                  <a:cubicBezTo>
                    <a:pt x="0" y="52241"/>
                    <a:pt x="52241" y="0"/>
                    <a:pt x="116683" y="0"/>
                  </a:cubicBezTo>
                  <a:close/>
                </a:path>
              </a:pathLst>
            </a:custGeom>
            <a:solidFill>
              <a:srgbClr val="E9917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875646" cy="280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191275" y="4920193"/>
            <a:ext cx="2887898" cy="886058"/>
            <a:chOff x="0" y="0"/>
            <a:chExt cx="760599" cy="23336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60599" cy="233365"/>
            </a:xfrm>
            <a:custGeom>
              <a:avLst/>
              <a:gdLst/>
              <a:ahLst/>
              <a:cxnLst/>
              <a:rect l="l" t="t" r="r" b="b"/>
              <a:pathLst>
                <a:path w="760599" h="233365">
                  <a:moveTo>
                    <a:pt x="116683" y="0"/>
                  </a:moveTo>
                  <a:lnTo>
                    <a:pt x="643916" y="0"/>
                  </a:lnTo>
                  <a:cubicBezTo>
                    <a:pt x="708358" y="0"/>
                    <a:pt x="760599" y="52241"/>
                    <a:pt x="760599" y="116683"/>
                  </a:cubicBezTo>
                  <a:lnTo>
                    <a:pt x="760599" y="116683"/>
                  </a:lnTo>
                  <a:cubicBezTo>
                    <a:pt x="760599" y="147629"/>
                    <a:pt x="748305" y="177307"/>
                    <a:pt x="726423" y="199190"/>
                  </a:cubicBezTo>
                  <a:cubicBezTo>
                    <a:pt x="704541" y="221072"/>
                    <a:pt x="674862" y="233365"/>
                    <a:pt x="643916" y="233365"/>
                  </a:cubicBezTo>
                  <a:lnTo>
                    <a:pt x="116683" y="233365"/>
                  </a:lnTo>
                  <a:cubicBezTo>
                    <a:pt x="52241" y="233365"/>
                    <a:pt x="0" y="181125"/>
                    <a:pt x="0" y="116683"/>
                  </a:cubicBezTo>
                  <a:lnTo>
                    <a:pt x="0" y="116683"/>
                  </a:lnTo>
                  <a:cubicBezTo>
                    <a:pt x="0" y="52241"/>
                    <a:pt x="52241" y="0"/>
                    <a:pt x="116683" y="0"/>
                  </a:cubicBezTo>
                  <a:close/>
                </a:path>
              </a:pathLst>
            </a:custGeom>
            <a:solidFill>
              <a:srgbClr val="E9917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760599" cy="280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34400" y="-1168106"/>
            <a:ext cx="3080104" cy="5665744"/>
          </a:xfrm>
          <a:custGeom>
            <a:avLst/>
            <a:gdLst/>
            <a:ahLst/>
            <a:cxnLst/>
            <a:rect l="l" t="t" r="r" b="b"/>
            <a:pathLst>
              <a:path w="3080104" h="5665744">
                <a:moveTo>
                  <a:pt x="0" y="0"/>
                </a:moveTo>
                <a:lnTo>
                  <a:pt x="3080104" y="0"/>
                </a:lnTo>
                <a:lnTo>
                  <a:pt x="3080104" y="5665744"/>
                </a:lnTo>
                <a:lnTo>
                  <a:pt x="0" y="56657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-2065467">
            <a:off x="-2543522" y="-1208177"/>
            <a:ext cx="5384167" cy="4473754"/>
          </a:xfrm>
          <a:custGeom>
            <a:avLst/>
            <a:gdLst/>
            <a:ahLst/>
            <a:cxnLst/>
            <a:rect l="l" t="t" r="r" b="b"/>
            <a:pathLst>
              <a:path w="5384167" h="4473754">
                <a:moveTo>
                  <a:pt x="0" y="0"/>
                </a:moveTo>
                <a:lnTo>
                  <a:pt x="5384167" y="0"/>
                </a:lnTo>
                <a:lnTo>
                  <a:pt x="5384167" y="4473754"/>
                </a:lnTo>
                <a:lnTo>
                  <a:pt x="0" y="44737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-1553934" y="1104981"/>
            <a:ext cx="4431300" cy="3617552"/>
          </a:xfrm>
          <a:custGeom>
            <a:avLst/>
            <a:gdLst/>
            <a:ahLst/>
            <a:cxnLst/>
            <a:rect l="l" t="t" r="r" b="b"/>
            <a:pathLst>
              <a:path w="4431300" h="3617552">
                <a:moveTo>
                  <a:pt x="0" y="0"/>
                </a:moveTo>
                <a:lnTo>
                  <a:pt x="4431300" y="0"/>
                </a:lnTo>
                <a:lnTo>
                  <a:pt x="4431300" y="3617553"/>
                </a:lnTo>
                <a:lnTo>
                  <a:pt x="0" y="36175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1813220" y="9368466"/>
            <a:ext cx="7315200" cy="1529542"/>
          </a:xfrm>
          <a:custGeom>
            <a:avLst/>
            <a:gdLst/>
            <a:ahLst/>
            <a:cxnLst/>
            <a:rect l="l" t="t" r="r" b="b"/>
            <a:pathLst>
              <a:path w="7315200" h="1529542">
                <a:moveTo>
                  <a:pt x="0" y="0"/>
                </a:moveTo>
                <a:lnTo>
                  <a:pt x="7315200" y="0"/>
                </a:lnTo>
                <a:lnTo>
                  <a:pt x="7315200" y="1529542"/>
                </a:lnTo>
                <a:lnTo>
                  <a:pt x="0" y="15295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4877479" y="1325044"/>
            <a:ext cx="8533042" cy="1160088"/>
            <a:chOff x="0" y="0"/>
            <a:chExt cx="2247386" cy="30553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47385" cy="305538"/>
            </a:xfrm>
            <a:custGeom>
              <a:avLst/>
              <a:gdLst/>
              <a:ahLst/>
              <a:cxnLst/>
              <a:rect l="l" t="t" r="r" b="b"/>
              <a:pathLst>
                <a:path w="2247385" h="305538">
                  <a:moveTo>
                    <a:pt x="46272" y="0"/>
                  </a:moveTo>
                  <a:lnTo>
                    <a:pt x="2201114" y="0"/>
                  </a:lnTo>
                  <a:cubicBezTo>
                    <a:pt x="2213386" y="0"/>
                    <a:pt x="2225155" y="4875"/>
                    <a:pt x="2233833" y="13553"/>
                  </a:cubicBezTo>
                  <a:cubicBezTo>
                    <a:pt x="2242510" y="22230"/>
                    <a:pt x="2247385" y="34000"/>
                    <a:pt x="2247385" y="46272"/>
                  </a:cubicBezTo>
                  <a:lnTo>
                    <a:pt x="2247385" y="259266"/>
                  </a:lnTo>
                  <a:cubicBezTo>
                    <a:pt x="2247385" y="271538"/>
                    <a:pt x="2242510" y="283307"/>
                    <a:pt x="2233833" y="291985"/>
                  </a:cubicBezTo>
                  <a:cubicBezTo>
                    <a:pt x="2225155" y="300663"/>
                    <a:pt x="2213386" y="305538"/>
                    <a:pt x="2201114" y="305538"/>
                  </a:cubicBezTo>
                  <a:lnTo>
                    <a:pt x="46272" y="305538"/>
                  </a:lnTo>
                  <a:cubicBezTo>
                    <a:pt x="20717" y="305538"/>
                    <a:pt x="0" y="284821"/>
                    <a:pt x="0" y="259266"/>
                  </a:cubicBezTo>
                  <a:lnTo>
                    <a:pt x="0" y="46272"/>
                  </a:lnTo>
                  <a:cubicBezTo>
                    <a:pt x="0" y="34000"/>
                    <a:pt x="4875" y="22230"/>
                    <a:pt x="13553" y="13553"/>
                  </a:cubicBezTo>
                  <a:cubicBezTo>
                    <a:pt x="22230" y="4875"/>
                    <a:pt x="34000" y="0"/>
                    <a:pt x="46272" y="0"/>
                  </a:cubicBezTo>
                  <a:close/>
                </a:path>
              </a:pathLst>
            </a:custGeom>
            <a:solidFill>
              <a:srgbClr val="E9917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2247386" cy="353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5662668" y="1476463"/>
            <a:ext cx="6962663" cy="809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INTRODUCTION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395601" y="3963921"/>
            <a:ext cx="11496797" cy="431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Hybrid Framework for Imbalance, Drift, and Adversarial Threats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747963" y="2828032"/>
            <a:ext cx="8792073" cy="107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Enhancing Robust Fraud Detection for GCC Financial Systems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873254" y="4967606"/>
            <a:ext cx="3317748" cy="54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Topic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40282" y="5048916"/>
            <a:ext cx="2682506" cy="54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Significnce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885626" y="5048916"/>
            <a:ext cx="3499197" cy="54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Purpose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664859" y="6407347"/>
            <a:ext cx="3734540" cy="860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4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Fraud detection in GCC financial systems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214265" y="6483906"/>
            <a:ext cx="3734540" cy="1298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4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Rising digital payments → high financial losses (~$32B globally)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767954" y="6549836"/>
            <a:ext cx="3734540" cy="1298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4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Create an accurate, efficient, robust fraud detection method</a:t>
            </a:r>
          </a:p>
        </p:txBody>
      </p:sp>
      <p:sp>
        <p:nvSpPr>
          <p:cNvPr id="47" name="TextBox 27">
            <a:extLst>
              <a:ext uri="{FF2B5EF4-FFF2-40B4-BE49-F238E27FC236}">
                <a16:creationId xmlns:a16="http://schemas.microsoft.com/office/drawing/2014/main" id="{46013FEB-BD80-F20E-FA54-35E38F747B53}"/>
              </a:ext>
            </a:extLst>
          </p:cNvPr>
          <p:cNvSpPr txBox="1"/>
          <p:nvPr/>
        </p:nvSpPr>
        <p:spPr>
          <a:xfrm>
            <a:off x="16443003" y="768999"/>
            <a:ext cx="5660569" cy="17545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399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1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23973">
            <a:off x="-548553" y="-2823558"/>
            <a:ext cx="4662074" cy="8244825"/>
          </a:xfrm>
          <a:custGeom>
            <a:avLst/>
            <a:gdLst/>
            <a:ahLst/>
            <a:cxnLst/>
            <a:rect l="l" t="t" r="r" b="b"/>
            <a:pathLst>
              <a:path w="4662074" h="8244825">
                <a:moveTo>
                  <a:pt x="0" y="0"/>
                </a:moveTo>
                <a:lnTo>
                  <a:pt x="4662074" y="0"/>
                </a:lnTo>
                <a:lnTo>
                  <a:pt x="4662074" y="8244826"/>
                </a:lnTo>
                <a:lnTo>
                  <a:pt x="0" y="8244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264435">
            <a:off x="-1878053" y="7727221"/>
            <a:ext cx="5423884" cy="4506754"/>
          </a:xfrm>
          <a:custGeom>
            <a:avLst/>
            <a:gdLst/>
            <a:ahLst/>
            <a:cxnLst/>
            <a:rect l="l" t="t" r="r" b="b"/>
            <a:pathLst>
              <a:path w="5423884" h="4506754">
                <a:moveTo>
                  <a:pt x="0" y="0"/>
                </a:moveTo>
                <a:lnTo>
                  <a:pt x="5423883" y="0"/>
                </a:lnTo>
                <a:lnTo>
                  <a:pt x="5423883" y="4506754"/>
                </a:lnTo>
                <a:lnTo>
                  <a:pt x="0" y="45067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034400" y="-1168106"/>
            <a:ext cx="3080104" cy="5665744"/>
          </a:xfrm>
          <a:custGeom>
            <a:avLst/>
            <a:gdLst/>
            <a:ahLst/>
            <a:cxnLst/>
            <a:rect l="l" t="t" r="r" b="b"/>
            <a:pathLst>
              <a:path w="3080104" h="5665744">
                <a:moveTo>
                  <a:pt x="0" y="0"/>
                </a:moveTo>
                <a:lnTo>
                  <a:pt x="3080104" y="0"/>
                </a:lnTo>
                <a:lnTo>
                  <a:pt x="3080104" y="5665744"/>
                </a:lnTo>
                <a:lnTo>
                  <a:pt x="0" y="56657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65293" y="4353329"/>
            <a:ext cx="1137191" cy="2830112"/>
          </a:xfrm>
          <a:custGeom>
            <a:avLst/>
            <a:gdLst/>
            <a:ahLst/>
            <a:cxnLst/>
            <a:rect l="l" t="t" r="r" b="b"/>
            <a:pathLst>
              <a:path w="1137191" h="2830112">
                <a:moveTo>
                  <a:pt x="0" y="0"/>
                </a:moveTo>
                <a:lnTo>
                  <a:pt x="1137191" y="0"/>
                </a:lnTo>
                <a:lnTo>
                  <a:pt x="1137191" y="2830112"/>
                </a:lnTo>
                <a:lnTo>
                  <a:pt x="0" y="28301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392917" y="8229600"/>
            <a:ext cx="6304011" cy="4114800"/>
          </a:xfrm>
          <a:custGeom>
            <a:avLst/>
            <a:gdLst/>
            <a:ahLst/>
            <a:cxnLst/>
            <a:rect l="l" t="t" r="r" b="b"/>
            <a:pathLst>
              <a:path w="6304011" h="4114800">
                <a:moveTo>
                  <a:pt x="0" y="0"/>
                </a:moveTo>
                <a:lnTo>
                  <a:pt x="6304011" y="0"/>
                </a:lnTo>
                <a:lnTo>
                  <a:pt x="63040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140748" y="1459964"/>
            <a:ext cx="1787304" cy="2043695"/>
          </a:xfrm>
          <a:custGeom>
            <a:avLst/>
            <a:gdLst/>
            <a:ahLst/>
            <a:cxnLst/>
            <a:rect l="l" t="t" r="r" b="b"/>
            <a:pathLst>
              <a:path w="1787304" h="2043695">
                <a:moveTo>
                  <a:pt x="0" y="0"/>
                </a:moveTo>
                <a:lnTo>
                  <a:pt x="1787304" y="0"/>
                </a:lnTo>
                <a:lnTo>
                  <a:pt x="1787304" y="2043695"/>
                </a:lnTo>
                <a:lnTo>
                  <a:pt x="0" y="20436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4982801" y="1164075"/>
            <a:ext cx="8322398" cy="1160088"/>
            <a:chOff x="0" y="0"/>
            <a:chExt cx="2191907" cy="3055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1907" cy="305538"/>
            </a:xfrm>
            <a:custGeom>
              <a:avLst/>
              <a:gdLst/>
              <a:ahLst/>
              <a:cxnLst/>
              <a:rect l="l" t="t" r="r" b="b"/>
              <a:pathLst>
                <a:path w="2191907" h="305538">
                  <a:moveTo>
                    <a:pt x="47443" y="0"/>
                  </a:moveTo>
                  <a:lnTo>
                    <a:pt x="2144464" y="0"/>
                  </a:lnTo>
                  <a:cubicBezTo>
                    <a:pt x="2170666" y="0"/>
                    <a:pt x="2191907" y="21241"/>
                    <a:pt x="2191907" y="47443"/>
                  </a:cubicBezTo>
                  <a:lnTo>
                    <a:pt x="2191907" y="258095"/>
                  </a:lnTo>
                  <a:cubicBezTo>
                    <a:pt x="2191907" y="284297"/>
                    <a:pt x="2170666" y="305538"/>
                    <a:pt x="2144464" y="305538"/>
                  </a:cubicBezTo>
                  <a:lnTo>
                    <a:pt x="47443" y="305538"/>
                  </a:lnTo>
                  <a:cubicBezTo>
                    <a:pt x="21241" y="305538"/>
                    <a:pt x="0" y="284297"/>
                    <a:pt x="0" y="258095"/>
                  </a:cubicBezTo>
                  <a:lnTo>
                    <a:pt x="0" y="47443"/>
                  </a:lnTo>
                  <a:cubicBezTo>
                    <a:pt x="0" y="21241"/>
                    <a:pt x="21241" y="0"/>
                    <a:pt x="47443" y="0"/>
                  </a:cubicBezTo>
                  <a:close/>
                </a:path>
              </a:pathLst>
            </a:custGeom>
            <a:solidFill>
              <a:srgbClr val="D8CFE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191907" cy="353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481112" y="1315494"/>
            <a:ext cx="7325777" cy="809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PROBLEM STATEMENT</a:t>
            </a:r>
          </a:p>
        </p:txBody>
      </p:sp>
      <p:grpSp>
        <p:nvGrpSpPr>
          <p:cNvPr id="36" name="Group 10">
            <a:extLst>
              <a:ext uri="{FF2B5EF4-FFF2-40B4-BE49-F238E27FC236}">
                <a16:creationId xmlns:a16="http://schemas.microsoft.com/office/drawing/2014/main" id="{2A4E9DEF-8920-31AA-5892-3981BDA442AC}"/>
              </a:ext>
            </a:extLst>
          </p:cNvPr>
          <p:cNvGrpSpPr/>
          <p:nvPr/>
        </p:nvGrpSpPr>
        <p:grpSpPr>
          <a:xfrm rot="5400000">
            <a:off x="6399122" y="5991577"/>
            <a:ext cx="1498088" cy="446650"/>
            <a:chOff x="0" y="0"/>
            <a:chExt cx="361780" cy="107864"/>
          </a:xfrm>
        </p:grpSpPr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E85DFF48-B2A1-A6B6-474D-A9C45FF88CC0}"/>
                </a:ext>
              </a:extLst>
            </p:cNvPr>
            <p:cNvSpPr/>
            <p:nvPr/>
          </p:nvSpPr>
          <p:spPr>
            <a:xfrm>
              <a:off x="29951" y="11391"/>
              <a:ext cx="301878" cy="96473"/>
            </a:xfrm>
            <a:custGeom>
              <a:avLst/>
              <a:gdLst/>
              <a:ahLst/>
              <a:cxnLst/>
              <a:rect l="l" t="t" r="r" b="b"/>
              <a:pathLst>
                <a:path w="301878" h="96473">
                  <a:moveTo>
                    <a:pt x="186448" y="9783"/>
                  </a:moveTo>
                  <a:lnTo>
                    <a:pt x="296320" y="75299"/>
                  </a:lnTo>
                  <a:cubicBezTo>
                    <a:pt x="300722" y="77924"/>
                    <a:pt x="302829" y="83166"/>
                    <a:pt x="301468" y="88108"/>
                  </a:cubicBezTo>
                  <a:cubicBezTo>
                    <a:pt x="300106" y="93049"/>
                    <a:pt x="295612" y="96473"/>
                    <a:pt x="290486" y="96473"/>
                  </a:cubicBezTo>
                  <a:lnTo>
                    <a:pt x="11392" y="96473"/>
                  </a:lnTo>
                  <a:cubicBezTo>
                    <a:pt x="6266" y="96473"/>
                    <a:pt x="1772" y="93049"/>
                    <a:pt x="411" y="88108"/>
                  </a:cubicBezTo>
                  <a:cubicBezTo>
                    <a:pt x="-951" y="83166"/>
                    <a:pt x="1156" y="77924"/>
                    <a:pt x="5558" y="75299"/>
                  </a:cubicBezTo>
                  <a:lnTo>
                    <a:pt x="115430" y="9783"/>
                  </a:lnTo>
                  <a:cubicBezTo>
                    <a:pt x="137306" y="-3262"/>
                    <a:pt x="164573" y="-3262"/>
                    <a:pt x="186448" y="9783"/>
                  </a:cubicBezTo>
                  <a:close/>
                </a:path>
              </a:pathLst>
            </a:custGeom>
            <a:solidFill>
              <a:srgbClr val="9366E4"/>
            </a:solidFill>
          </p:spPr>
        </p:sp>
        <p:sp>
          <p:nvSpPr>
            <p:cNvPr id="38" name="TextBox 12">
              <a:extLst>
                <a:ext uri="{FF2B5EF4-FFF2-40B4-BE49-F238E27FC236}">
                  <a16:creationId xmlns:a16="http://schemas.microsoft.com/office/drawing/2014/main" id="{51D73BE9-E06B-5AAC-3CF6-7FD85A642852}"/>
                </a:ext>
              </a:extLst>
            </p:cNvPr>
            <p:cNvSpPr txBox="1"/>
            <p:nvPr/>
          </p:nvSpPr>
          <p:spPr>
            <a:xfrm>
              <a:off x="56528" y="11980"/>
              <a:ext cx="248724" cy="8818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39" name="Group 13">
            <a:extLst>
              <a:ext uri="{FF2B5EF4-FFF2-40B4-BE49-F238E27FC236}">
                <a16:creationId xmlns:a16="http://schemas.microsoft.com/office/drawing/2014/main" id="{6446E20C-5330-AE00-8D65-3A8264579CAD}"/>
              </a:ext>
            </a:extLst>
          </p:cNvPr>
          <p:cNvGrpSpPr/>
          <p:nvPr/>
        </p:nvGrpSpPr>
        <p:grpSpPr>
          <a:xfrm>
            <a:off x="4309607" y="4062346"/>
            <a:ext cx="2609972" cy="3677117"/>
            <a:chOff x="0" y="0"/>
            <a:chExt cx="736265" cy="1037303"/>
          </a:xfrm>
        </p:grpSpPr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8B4391AB-1DD1-5224-508B-52498860844D}"/>
                </a:ext>
              </a:extLst>
            </p:cNvPr>
            <p:cNvSpPr/>
            <p:nvPr/>
          </p:nvSpPr>
          <p:spPr>
            <a:xfrm>
              <a:off x="0" y="0"/>
              <a:ext cx="736265" cy="1037303"/>
            </a:xfrm>
            <a:custGeom>
              <a:avLst/>
              <a:gdLst/>
              <a:ahLst/>
              <a:cxnLst/>
              <a:rect l="l" t="t" r="r" b="b"/>
              <a:pathLst>
                <a:path w="736265" h="1037303">
                  <a:moveTo>
                    <a:pt x="106786" y="0"/>
                  </a:moveTo>
                  <a:lnTo>
                    <a:pt x="629479" y="0"/>
                  </a:lnTo>
                  <a:cubicBezTo>
                    <a:pt x="688455" y="0"/>
                    <a:pt x="736265" y="47810"/>
                    <a:pt x="736265" y="106786"/>
                  </a:cubicBezTo>
                  <a:lnTo>
                    <a:pt x="736265" y="930517"/>
                  </a:lnTo>
                  <a:cubicBezTo>
                    <a:pt x="736265" y="958838"/>
                    <a:pt x="725014" y="986000"/>
                    <a:pt x="704988" y="1006026"/>
                  </a:cubicBezTo>
                  <a:cubicBezTo>
                    <a:pt x="684962" y="1026052"/>
                    <a:pt x="657800" y="1037303"/>
                    <a:pt x="629479" y="1037303"/>
                  </a:cubicBezTo>
                  <a:lnTo>
                    <a:pt x="106786" y="1037303"/>
                  </a:lnTo>
                  <a:cubicBezTo>
                    <a:pt x="78465" y="1037303"/>
                    <a:pt x="51303" y="1026052"/>
                    <a:pt x="31277" y="1006026"/>
                  </a:cubicBezTo>
                  <a:cubicBezTo>
                    <a:pt x="11251" y="986000"/>
                    <a:pt x="0" y="958838"/>
                    <a:pt x="0" y="930517"/>
                  </a:cubicBezTo>
                  <a:lnTo>
                    <a:pt x="0" y="106786"/>
                  </a:lnTo>
                  <a:cubicBezTo>
                    <a:pt x="0" y="78465"/>
                    <a:pt x="11251" y="51303"/>
                    <a:pt x="31277" y="31277"/>
                  </a:cubicBezTo>
                  <a:cubicBezTo>
                    <a:pt x="51303" y="11251"/>
                    <a:pt x="78465" y="0"/>
                    <a:pt x="106786" y="0"/>
                  </a:cubicBezTo>
                  <a:close/>
                </a:path>
              </a:pathLst>
            </a:custGeom>
            <a:solidFill>
              <a:srgbClr val="EAE0FF"/>
            </a:solidFill>
          </p:spPr>
        </p:sp>
        <p:sp>
          <p:nvSpPr>
            <p:cNvPr id="41" name="TextBox 15">
              <a:extLst>
                <a:ext uri="{FF2B5EF4-FFF2-40B4-BE49-F238E27FC236}">
                  <a16:creationId xmlns:a16="http://schemas.microsoft.com/office/drawing/2014/main" id="{2D33D2E5-2062-951F-7D13-168840156A31}"/>
                </a:ext>
              </a:extLst>
            </p:cNvPr>
            <p:cNvSpPr txBox="1"/>
            <p:nvPr/>
          </p:nvSpPr>
          <p:spPr>
            <a:xfrm>
              <a:off x="0" y="-38100"/>
              <a:ext cx="736265" cy="1075403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42" name="Group 16">
            <a:extLst>
              <a:ext uri="{FF2B5EF4-FFF2-40B4-BE49-F238E27FC236}">
                <a16:creationId xmlns:a16="http://schemas.microsoft.com/office/drawing/2014/main" id="{AB4EFB98-E0F5-5D49-8361-459991DC6A9A}"/>
              </a:ext>
            </a:extLst>
          </p:cNvPr>
          <p:cNvGrpSpPr/>
          <p:nvPr/>
        </p:nvGrpSpPr>
        <p:grpSpPr>
          <a:xfrm>
            <a:off x="4931203" y="3406072"/>
            <a:ext cx="1366693" cy="1366693"/>
            <a:chOff x="0" y="0"/>
            <a:chExt cx="812800" cy="812800"/>
          </a:xfrm>
        </p:grpSpPr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39495294-58A8-AA98-F976-6809F9454C2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366E4"/>
            </a:solidFill>
          </p:spPr>
        </p:sp>
        <p:sp>
          <p:nvSpPr>
            <p:cNvPr id="44" name="TextBox 18">
              <a:extLst>
                <a:ext uri="{FF2B5EF4-FFF2-40B4-BE49-F238E27FC236}">
                  <a16:creationId xmlns:a16="http://schemas.microsoft.com/office/drawing/2014/main" id="{E20B9794-7D25-179F-E098-2A4979E81B1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sp>
        <p:nvSpPr>
          <p:cNvPr id="45" name="TextBox 19">
            <a:extLst>
              <a:ext uri="{FF2B5EF4-FFF2-40B4-BE49-F238E27FC236}">
                <a16:creationId xmlns:a16="http://schemas.microsoft.com/office/drawing/2014/main" id="{E2C8B393-9809-514C-8819-F484ECAD5010}"/>
              </a:ext>
            </a:extLst>
          </p:cNvPr>
          <p:cNvSpPr txBox="1"/>
          <p:nvPr/>
        </p:nvSpPr>
        <p:spPr>
          <a:xfrm>
            <a:off x="4543957" y="5586370"/>
            <a:ext cx="2085443" cy="1740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Fraud &lt;0.2% of </a:t>
            </a:r>
          </a:p>
          <a:p>
            <a:pPr algn="ctr">
              <a:lnSpc>
                <a:spcPts val="3499"/>
              </a:lnSpc>
            </a:pPr>
            <a:r>
              <a:rPr lang="en-US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transactions, </a:t>
            </a:r>
          </a:p>
          <a:p>
            <a:pPr algn="ctr">
              <a:lnSpc>
                <a:spcPts val="3499"/>
              </a:lnSpc>
            </a:pPr>
            <a:r>
              <a:rPr lang="en-US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making detection difficult.</a:t>
            </a:r>
            <a:endParaRPr lang="en-US" sz="1699" u="none" strike="noStrike" dirty="0">
              <a:solidFill>
                <a:srgbClr val="1C1C1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6" name="Group 20">
            <a:extLst>
              <a:ext uri="{FF2B5EF4-FFF2-40B4-BE49-F238E27FC236}">
                <a16:creationId xmlns:a16="http://schemas.microsoft.com/office/drawing/2014/main" id="{AAE77FB5-8552-6A76-FE84-3648D1165E2D}"/>
              </a:ext>
            </a:extLst>
          </p:cNvPr>
          <p:cNvGrpSpPr/>
          <p:nvPr/>
        </p:nvGrpSpPr>
        <p:grpSpPr>
          <a:xfrm rot="5400000">
            <a:off x="9648746" y="5991577"/>
            <a:ext cx="1498088" cy="446650"/>
            <a:chOff x="0" y="0"/>
            <a:chExt cx="361780" cy="107864"/>
          </a:xfrm>
        </p:grpSpPr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1DC7BC8B-3246-071B-969B-D8136757F3A0}"/>
                </a:ext>
              </a:extLst>
            </p:cNvPr>
            <p:cNvSpPr/>
            <p:nvPr/>
          </p:nvSpPr>
          <p:spPr>
            <a:xfrm>
              <a:off x="29951" y="11391"/>
              <a:ext cx="301878" cy="96473"/>
            </a:xfrm>
            <a:custGeom>
              <a:avLst/>
              <a:gdLst/>
              <a:ahLst/>
              <a:cxnLst/>
              <a:rect l="l" t="t" r="r" b="b"/>
              <a:pathLst>
                <a:path w="301878" h="96473">
                  <a:moveTo>
                    <a:pt x="186448" y="9783"/>
                  </a:moveTo>
                  <a:lnTo>
                    <a:pt x="296320" y="75299"/>
                  </a:lnTo>
                  <a:cubicBezTo>
                    <a:pt x="300722" y="77924"/>
                    <a:pt x="302829" y="83166"/>
                    <a:pt x="301468" y="88108"/>
                  </a:cubicBezTo>
                  <a:cubicBezTo>
                    <a:pt x="300106" y="93049"/>
                    <a:pt x="295612" y="96473"/>
                    <a:pt x="290486" y="96473"/>
                  </a:cubicBezTo>
                  <a:lnTo>
                    <a:pt x="11392" y="96473"/>
                  </a:lnTo>
                  <a:cubicBezTo>
                    <a:pt x="6266" y="96473"/>
                    <a:pt x="1772" y="93049"/>
                    <a:pt x="411" y="88108"/>
                  </a:cubicBezTo>
                  <a:cubicBezTo>
                    <a:pt x="-951" y="83166"/>
                    <a:pt x="1156" y="77924"/>
                    <a:pt x="5558" y="75299"/>
                  </a:cubicBezTo>
                  <a:lnTo>
                    <a:pt x="115430" y="9783"/>
                  </a:lnTo>
                  <a:cubicBezTo>
                    <a:pt x="137306" y="-3262"/>
                    <a:pt x="164573" y="-3262"/>
                    <a:pt x="186448" y="9783"/>
                  </a:cubicBezTo>
                  <a:close/>
                </a:path>
              </a:pathLst>
            </a:custGeom>
            <a:solidFill>
              <a:srgbClr val="E46671"/>
            </a:solidFill>
          </p:spPr>
        </p:sp>
        <p:sp>
          <p:nvSpPr>
            <p:cNvPr id="48" name="TextBox 22">
              <a:extLst>
                <a:ext uri="{FF2B5EF4-FFF2-40B4-BE49-F238E27FC236}">
                  <a16:creationId xmlns:a16="http://schemas.microsoft.com/office/drawing/2014/main" id="{4C1207C0-C701-52B8-401F-9F4FFEC9E1DF}"/>
                </a:ext>
              </a:extLst>
            </p:cNvPr>
            <p:cNvSpPr txBox="1"/>
            <p:nvPr/>
          </p:nvSpPr>
          <p:spPr>
            <a:xfrm>
              <a:off x="56528" y="11980"/>
              <a:ext cx="248724" cy="8818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49" name="Group 23">
            <a:extLst>
              <a:ext uri="{FF2B5EF4-FFF2-40B4-BE49-F238E27FC236}">
                <a16:creationId xmlns:a16="http://schemas.microsoft.com/office/drawing/2014/main" id="{DD6AC0DA-9B30-D7DC-0549-D5FA2A63EEF5}"/>
              </a:ext>
            </a:extLst>
          </p:cNvPr>
          <p:cNvGrpSpPr/>
          <p:nvPr/>
        </p:nvGrpSpPr>
        <p:grpSpPr>
          <a:xfrm>
            <a:off x="7579425" y="4122160"/>
            <a:ext cx="2609972" cy="3677117"/>
            <a:chOff x="0" y="0"/>
            <a:chExt cx="736265" cy="1037303"/>
          </a:xfrm>
        </p:grpSpPr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EB2D8AB9-F2E3-8C56-27CB-DDB0089DD47B}"/>
                </a:ext>
              </a:extLst>
            </p:cNvPr>
            <p:cNvSpPr/>
            <p:nvPr/>
          </p:nvSpPr>
          <p:spPr>
            <a:xfrm>
              <a:off x="0" y="0"/>
              <a:ext cx="736265" cy="1037303"/>
            </a:xfrm>
            <a:custGeom>
              <a:avLst/>
              <a:gdLst/>
              <a:ahLst/>
              <a:cxnLst/>
              <a:rect l="l" t="t" r="r" b="b"/>
              <a:pathLst>
                <a:path w="736265" h="1037303">
                  <a:moveTo>
                    <a:pt x="106786" y="0"/>
                  </a:moveTo>
                  <a:lnTo>
                    <a:pt x="629479" y="0"/>
                  </a:lnTo>
                  <a:cubicBezTo>
                    <a:pt x="688455" y="0"/>
                    <a:pt x="736265" y="47810"/>
                    <a:pt x="736265" y="106786"/>
                  </a:cubicBezTo>
                  <a:lnTo>
                    <a:pt x="736265" y="930517"/>
                  </a:lnTo>
                  <a:cubicBezTo>
                    <a:pt x="736265" y="958838"/>
                    <a:pt x="725014" y="986000"/>
                    <a:pt x="704988" y="1006026"/>
                  </a:cubicBezTo>
                  <a:cubicBezTo>
                    <a:pt x="684962" y="1026052"/>
                    <a:pt x="657800" y="1037303"/>
                    <a:pt x="629479" y="1037303"/>
                  </a:cubicBezTo>
                  <a:lnTo>
                    <a:pt x="106786" y="1037303"/>
                  </a:lnTo>
                  <a:cubicBezTo>
                    <a:pt x="78465" y="1037303"/>
                    <a:pt x="51303" y="1026052"/>
                    <a:pt x="31277" y="1006026"/>
                  </a:cubicBezTo>
                  <a:cubicBezTo>
                    <a:pt x="11251" y="986000"/>
                    <a:pt x="0" y="958838"/>
                    <a:pt x="0" y="930517"/>
                  </a:cubicBezTo>
                  <a:lnTo>
                    <a:pt x="0" y="106786"/>
                  </a:lnTo>
                  <a:cubicBezTo>
                    <a:pt x="0" y="78465"/>
                    <a:pt x="11251" y="51303"/>
                    <a:pt x="31277" y="31277"/>
                  </a:cubicBezTo>
                  <a:cubicBezTo>
                    <a:pt x="51303" y="11251"/>
                    <a:pt x="78465" y="0"/>
                    <a:pt x="106786" y="0"/>
                  </a:cubicBezTo>
                  <a:close/>
                </a:path>
              </a:pathLst>
            </a:custGeom>
            <a:solidFill>
              <a:srgbClr val="FFBEC4"/>
            </a:solidFill>
          </p:spPr>
        </p:sp>
        <p:sp>
          <p:nvSpPr>
            <p:cNvPr id="51" name="TextBox 25">
              <a:extLst>
                <a:ext uri="{FF2B5EF4-FFF2-40B4-BE49-F238E27FC236}">
                  <a16:creationId xmlns:a16="http://schemas.microsoft.com/office/drawing/2014/main" id="{DEE5DCEB-D0C5-D787-FE72-CAC2D8095B0E}"/>
                </a:ext>
              </a:extLst>
            </p:cNvPr>
            <p:cNvSpPr txBox="1"/>
            <p:nvPr/>
          </p:nvSpPr>
          <p:spPr>
            <a:xfrm>
              <a:off x="0" y="-38100"/>
              <a:ext cx="736265" cy="1075403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52" name="Group 26">
            <a:extLst>
              <a:ext uri="{FF2B5EF4-FFF2-40B4-BE49-F238E27FC236}">
                <a16:creationId xmlns:a16="http://schemas.microsoft.com/office/drawing/2014/main" id="{9C19957E-7089-46D0-CA3B-320857A57CA7}"/>
              </a:ext>
            </a:extLst>
          </p:cNvPr>
          <p:cNvGrpSpPr/>
          <p:nvPr/>
        </p:nvGrpSpPr>
        <p:grpSpPr>
          <a:xfrm>
            <a:off x="8201065" y="3406072"/>
            <a:ext cx="1366693" cy="1366693"/>
            <a:chOff x="0" y="0"/>
            <a:chExt cx="812800" cy="812800"/>
          </a:xfrm>
        </p:grpSpPr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03629D09-4ED2-BE94-0844-BAE4BC56BF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6671"/>
            </a:solidFill>
          </p:spPr>
        </p:sp>
        <p:sp>
          <p:nvSpPr>
            <p:cNvPr id="54" name="TextBox 28">
              <a:extLst>
                <a:ext uri="{FF2B5EF4-FFF2-40B4-BE49-F238E27FC236}">
                  <a16:creationId xmlns:a16="http://schemas.microsoft.com/office/drawing/2014/main" id="{C698777A-E7C3-E699-162B-6099003911F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sp>
        <p:nvSpPr>
          <p:cNvPr id="55" name="TextBox 29">
            <a:extLst>
              <a:ext uri="{FF2B5EF4-FFF2-40B4-BE49-F238E27FC236}">
                <a16:creationId xmlns:a16="http://schemas.microsoft.com/office/drawing/2014/main" id="{C40DF4CB-469F-0CB5-8DAB-7BDFB1F73CFF}"/>
              </a:ext>
            </a:extLst>
          </p:cNvPr>
          <p:cNvSpPr txBox="1"/>
          <p:nvPr/>
        </p:nvSpPr>
        <p:spPr>
          <a:xfrm>
            <a:off x="7841690" y="5800606"/>
            <a:ext cx="2085443" cy="843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pc="5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Fraud patterns change over time</a:t>
            </a:r>
          </a:p>
        </p:txBody>
      </p:sp>
      <p:grpSp>
        <p:nvGrpSpPr>
          <p:cNvPr id="59" name="Group 33">
            <a:extLst>
              <a:ext uri="{FF2B5EF4-FFF2-40B4-BE49-F238E27FC236}">
                <a16:creationId xmlns:a16="http://schemas.microsoft.com/office/drawing/2014/main" id="{88736D61-1F2E-ADFC-A0E1-583226FF6F00}"/>
              </a:ext>
            </a:extLst>
          </p:cNvPr>
          <p:cNvGrpSpPr/>
          <p:nvPr/>
        </p:nvGrpSpPr>
        <p:grpSpPr>
          <a:xfrm>
            <a:off x="10829049" y="4122160"/>
            <a:ext cx="2609972" cy="3677117"/>
            <a:chOff x="0" y="0"/>
            <a:chExt cx="736265" cy="1037303"/>
          </a:xfrm>
        </p:grpSpPr>
        <p:sp>
          <p:nvSpPr>
            <p:cNvPr id="60" name="Freeform 34">
              <a:extLst>
                <a:ext uri="{FF2B5EF4-FFF2-40B4-BE49-F238E27FC236}">
                  <a16:creationId xmlns:a16="http://schemas.microsoft.com/office/drawing/2014/main" id="{383D7803-C276-0121-AC92-6C977B474492}"/>
                </a:ext>
              </a:extLst>
            </p:cNvPr>
            <p:cNvSpPr/>
            <p:nvPr/>
          </p:nvSpPr>
          <p:spPr>
            <a:xfrm>
              <a:off x="0" y="0"/>
              <a:ext cx="736265" cy="1037303"/>
            </a:xfrm>
            <a:custGeom>
              <a:avLst/>
              <a:gdLst/>
              <a:ahLst/>
              <a:cxnLst/>
              <a:rect l="l" t="t" r="r" b="b"/>
              <a:pathLst>
                <a:path w="736265" h="1037303">
                  <a:moveTo>
                    <a:pt x="106786" y="0"/>
                  </a:moveTo>
                  <a:lnTo>
                    <a:pt x="629479" y="0"/>
                  </a:lnTo>
                  <a:cubicBezTo>
                    <a:pt x="688455" y="0"/>
                    <a:pt x="736265" y="47810"/>
                    <a:pt x="736265" y="106786"/>
                  </a:cubicBezTo>
                  <a:lnTo>
                    <a:pt x="736265" y="930517"/>
                  </a:lnTo>
                  <a:cubicBezTo>
                    <a:pt x="736265" y="958838"/>
                    <a:pt x="725014" y="986000"/>
                    <a:pt x="704988" y="1006026"/>
                  </a:cubicBezTo>
                  <a:cubicBezTo>
                    <a:pt x="684962" y="1026052"/>
                    <a:pt x="657800" y="1037303"/>
                    <a:pt x="629479" y="1037303"/>
                  </a:cubicBezTo>
                  <a:lnTo>
                    <a:pt x="106786" y="1037303"/>
                  </a:lnTo>
                  <a:cubicBezTo>
                    <a:pt x="78465" y="1037303"/>
                    <a:pt x="51303" y="1026052"/>
                    <a:pt x="31277" y="1006026"/>
                  </a:cubicBezTo>
                  <a:cubicBezTo>
                    <a:pt x="11251" y="986000"/>
                    <a:pt x="0" y="958838"/>
                    <a:pt x="0" y="930517"/>
                  </a:cubicBezTo>
                  <a:lnTo>
                    <a:pt x="0" y="106786"/>
                  </a:lnTo>
                  <a:cubicBezTo>
                    <a:pt x="0" y="78465"/>
                    <a:pt x="11251" y="51303"/>
                    <a:pt x="31277" y="31277"/>
                  </a:cubicBezTo>
                  <a:cubicBezTo>
                    <a:pt x="51303" y="11251"/>
                    <a:pt x="78465" y="0"/>
                    <a:pt x="106786" y="0"/>
                  </a:cubicBezTo>
                  <a:close/>
                </a:path>
              </a:pathLst>
            </a:custGeom>
            <a:solidFill>
              <a:srgbClr val="FFE8A3"/>
            </a:solidFill>
          </p:spPr>
        </p:sp>
        <p:sp>
          <p:nvSpPr>
            <p:cNvPr id="61" name="TextBox 35">
              <a:extLst>
                <a:ext uri="{FF2B5EF4-FFF2-40B4-BE49-F238E27FC236}">
                  <a16:creationId xmlns:a16="http://schemas.microsoft.com/office/drawing/2014/main" id="{D0ECD58B-DE99-E64A-9748-9971412FF779}"/>
                </a:ext>
              </a:extLst>
            </p:cNvPr>
            <p:cNvSpPr txBox="1"/>
            <p:nvPr/>
          </p:nvSpPr>
          <p:spPr>
            <a:xfrm>
              <a:off x="0" y="-38100"/>
              <a:ext cx="736265" cy="1075403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62" name="Group 36">
            <a:extLst>
              <a:ext uri="{FF2B5EF4-FFF2-40B4-BE49-F238E27FC236}">
                <a16:creationId xmlns:a16="http://schemas.microsoft.com/office/drawing/2014/main" id="{CF28BADB-43C2-FCBD-CC36-7662A1C1B4C0}"/>
              </a:ext>
            </a:extLst>
          </p:cNvPr>
          <p:cNvGrpSpPr/>
          <p:nvPr/>
        </p:nvGrpSpPr>
        <p:grpSpPr>
          <a:xfrm>
            <a:off x="11450689" y="3406072"/>
            <a:ext cx="1366693" cy="1366693"/>
            <a:chOff x="0" y="0"/>
            <a:chExt cx="812800" cy="812800"/>
          </a:xfrm>
        </p:grpSpPr>
        <p:sp>
          <p:nvSpPr>
            <p:cNvPr id="63" name="Freeform 37">
              <a:extLst>
                <a:ext uri="{FF2B5EF4-FFF2-40B4-BE49-F238E27FC236}">
                  <a16:creationId xmlns:a16="http://schemas.microsoft.com/office/drawing/2014/main" id="{B9E78A80-1172-E028-D30E-A234B6D15E8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A707"/>
            </a:solidFill>
          </p:spPr>
        </p:sp>
        <p:sp>
          <p:nvSpPr>
            <p:cNvPr id="64" name="TextBox 38">
              <a:extLst>
                <a:ext uri="{FF2B5EF4-FFF2-40B4-BE49-F238E27FC236}">
                  <a16:creationId xmlns:a16="http://schemas.microsoft.com/office/drawing/2014/main" id="{1AEBD41D-8079-B32D-10DD-2256E3FFA3F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sp>
        <p:nvSpPr>
          <p:cNvPr id="65" name="TextBox 39">
            <a:extLst>
              <a:ext uri="{FF2B5EF4-FFF2-40B4-BE49-F238E27FC236}">
                <a16:creationId xmlns:a16="http://schemas.microsoft.com/office/drawing/2014/main" id="{A0EB7B66-D6C6-90A1-F355-E9B7BE0B00FF}"/>
              </a:ext>
            </a:extLst>
          </p:cNvPr>
          <p:cNvSpPr txBox="1"/>
          <p:nvPr/>
        </p:nvSpPr>
        <p:spPr>
          <a:xfrm>
            <a:off x="11091314" y="5953006"/>
            <a:ext cx="2085443" cy="843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pc="5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Aim to bypass detection</a:t>
            </a:r>
          </a:p>
        </p:txBody>
      </p:sp>
      <p:sp>
        <p:nvSpPr>
          <p:cNvPr id="73" name="TextBox 47">
            <a:extLst>
              <a:ext uri="{FF2B5EF4-FFF2-40B4-BE49-F238E27FC236}">
                <a16:creationId xmlns:a16="http://schemas.microsoft.com/office/drawing/2014/main" id="{34D38CC7-A367-10FD-C3D1-0DA29FFFDD68}"/>
              </a:ext>
            </a:extLst>
          </p:cNvPr>
          <p:cNvSpPr txBox="1"/>
          <p:nvPr/>
        </p:nvSpPr>
        <p:spPr>
          <a:xfrm>
            <a:off x="5152513" y="3711600"/>
            <a:ext cx="924073" cy="67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id="74" name="TextBox 48">
            <a:extLst>
              <a:ext uri="{FF2B5EF4-FFF2-40B4-BE49-F238E27FC236}">
                <a16:creationId xmlns:a16="http://schemas.microsoft.com/office/drawing/2014/main" id="{DD539B84-04FE-28D8-9DE6-9F34DE10275F}"/>
              </a:ext>
            </a:extLst>
          </p:cNvPr>
          <p:cNvSpPr txBox="1"/>
          <p:nvPr/>
        </p:nvSpPr>
        <p:spPr>
          <a:xfrm>
            <a:off x="8422375" y="3711600"/>
            <a:ext cx="924073" cy="67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sp>
        <p:nvSpPr>
          <p:cNvPr id="75" name="TextBox 49">
            <a:extLst>
              <a:ext uri="{FF2B5EF4-FFF2-40B4-BE49-F238E27FC236}">
                <a16:creationId xmlns:a16="http://schemas.microsoft.com/office/drawing/2014/main" id="{3420EF8A-1E8C-9F14-B4C8-DB5F3740C0EB}"/>
              </a:ext>
            </a:extLst>
          </p:cNvPr>
          <p:cNvSpPr txBox="1"/>
          <p:nvPr/>
        </p:nvSpPr>
        <p:spPr>
          <a:xfrm>
            <a:off x="11671998" y="3711600"/>
            <a:ext cx="924073" cy="67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id="77" name="TextBox 51">
            <a:extLst>
              <a:ext uri="{FF2B5EF4-FFF2-40B4-BE49-F238E27FC236}">
                <a16:creationId xmlns:a16="http://schemas.microsoft.com/office/drawing/2014/main" id="{D114C364-AA3E-92AB-7470-52BDED54CEF7}"/>
              </a:ext>
            </a:extLst>
          </p:cNvPr>
          <p:cNvSpPr txBox="1"/>
          <p:nvPr/>
        </p:nvSpPr>
        <p:spPr>
          <a:xfrm>
            <a:off x="4498201" y="5038029"/>
            <a:ext cx="2255613" cy="332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Class Imbalance</a:t>
            </a:r>
          </a:p>
        </p:txBody>
      </p:sp>
      <p:sp>
        <p:nvSpPr>
          <p:cNvPr id="78" name="TextBox 52">
            <a:extLst>
              <a:ext uri="{FF2B5EF4-FFF2-40B4-BE49-F238E27FC236}">
                <a16:creationId xmlns:a16="http://schemas.microsoft.com/office/drawing/2014/main" id="{E21174BD-69C0-C271-80AB-9238198C85B6}"/>
              </a:ext>
            </a:extLst>
          </p:cNvPr>
          <p:cNvSpPr txBox="1"/>
          <p:nvPr/>
        </p:nvSpPr>
        <p:spPr>
          <a:xfrm>
            <a:off x="7883828" y="5037495"/>
            <a:ext cx="2001165" cy="33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Concept Drift</a:t>
            </a:r>
          </a:p>
        </p:txBody>
      </p:sp>
      <p:sp>
        <p:nvSpPr>
          <p:cNvPr id="79" name="TextBox 53">
            <a:extLst>
              <a:ext uri="{FF2B5EF4-FFF2-40B4-BE49-F238E27FC236}">
                <a16:creationId xmlns:a16="http://schemas.microsoft.com/office/drawing/2014/main" id="{604BED05-83DC-DD78-1304-EF6B6764BF23}"/>
              </a:ext>
            </a:extLst>
          </p:cNvPr>
          <p:cNvSpPr txBox="1"/>
          <p:nvPr/>
        </p:nvSpPr>
        <p:spPr>
          <a:xfrm>
            <a:off x="11133453" y="4882823"/>
            <a:ext cx="2001165" cy="6917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Adversarial Attempts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C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66272" y="1546404"/>
            <a:ext cx="9360506" cy="956997"/>
            <a:chOff x="0" y="0"/>
            <a:chExt cx="2465318" cy="2520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65318" cy="252048"/>
            </a:xfrm>
            <a:custGeom>
              <a:avLst/>
              <a:gdLst/>
              <a:ahLst/>
              <a:cxnLst/>
              <a:rect l="l" t="t" r="r" b="b"/>
              <a:pathLst>
                <a:path w="2465318" h="252048">
                  <a:moveTo>
                    <a:pt x="38046" y="0"/>
                  </a:moveTo>
                  <a:lnTo>
                    <a:pt x="2427273" y="0"/>
                  </a:lnTo>
                  <a:cubicBezTo>
                    <a:pt x="2448285" y="0"/>
                    <a:pt x="2465318" y="17034"/>
                    <a:pt x="2465318" y="38046"/>
                  </a:cubicBezTo>
                  <a:lnTo>
                    <a:pt x="2465318" y="214003"/>
                  </a:lnTo>
                  <a:cubicBezTo>
                    <a:pt x="2465318" y="235015"/>
                    <a:pt x="2448285" y="252048"/>
                    <a:pt x="2427273" y="252048"/>
                  </a:cubicBezTo>
                  <a:lnTo>
                    <a:pt x="38046" y="252048"/>
                  </a:lnTo>
                  <a:cubicBezTo>
                    <a:pt x="27955" y="252048"/>
                    <a:pt x="18278" y="248040"/>
                    <a:pt x="11143" y="240905"/>
                  </a:cubicBezTo>
                  <a:cubicBezTo>
                    <a:pt x="4008" y="233770"/>
                    <a:pt x="0" y="224093"/>
                    <a:pt x="0" y="214003"/>
                  </a:cubicBezTo>
                  <a:lnTo>
                    <a:pt x="0" y="38046"/>
                  </a:lnTo>
                  <a:cubicBezTo>
                    <a:pt x="0" y="27955"/>
                    <a:pt x="4008" y="18278"/>
                    <a:pt x="11143" y="11143"/>
                  </a:cubicBezTo>
                  <a:cubicBezTo>
                    <a:pt x="18278" y="4008"/>
                    <a:pt x="27955" y="0"/>
                    <a:pt x="38046" y="0"/>
                  </a:cubicBezTo>
                  <a:close/>
                </a:path>
              </a:pathLst>
            </a:custGeom>
            <a:solidFill>
              <a:srgbClr val="E9917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465318" cy="2996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058578" y="1057388"/>
            <a:ext cx="1429104" cy="1366743"/>
          </a:xfrm>
          <a:custGeom>
            <a:avLst/>
            <a:gdLst/>
            <a:ahLst/>
            <a:cxnLst/>
            <a:rect l="l" t="t" r="r" b="b"/>
            <a:pathLst>
              <a:path w="1429104" h="1366743">
                <a:moveTo>
                  <a:pt x="0" y="0"/>
                </a:moveTo>
                <a:lnTo>
                  <a:pt x="1429105" y="0"/>
                </a:lnTo>
                <a:lnTo>
                  <a:pt x="1429105" y="1366744"/>
                </a:lnTo>
                <a:lnTo>
                  <a:pt x="0" y="13667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156198">
            <a:off x="347802" y="6624527"/>
            <a:ext cx="3576135" cy="4114800"/>
          </a:xfrm>
          <a:custGeom>
            <a:avLst/>
            <a:gdLst/>
            <a:ahLst/>
            <a:cxnLst/>
            <a:rect l="l" t="t" r="r" b="b"/>
            <a:pathLst>
              <a:path w="3576135" h="4114800">
                <a:moveTo>
                  <a:pt x="0" y="0"/>
                </a:moveTo>
                <a:lnTo>
                  <a:pt x="3576135" y="0"/>
                </a:lnTo>
                <a:lnTo>
                  <a:pt x="35761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161642" y="1605785"/>
            <a:ext cx="7790483" cy="809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OBJECTIVE / HYPOTHESIS</a:t>
            </a:r>
          </a:p>
        </p:txBody>
      </p:sp>
      <p:sp>
        <p:nvSpPr>
          <p:cNvPr id="8" name="Freeform 8"/>
          <p:cNvSpPr/>
          <p:nvPr/>
        </p:nvSpPr>
        <p:spPr>
          <a:xfrm>
            <a:off x="17259300" y="366732"/>
            <a:ext cx="4919870" cy="4114800"/>
          </a:xfrm>
          <a:custGeom>
            <a:avLst/>
            <a:gdLst/>
            <a:ahLst/>
            <a:cxnLst/>
            <a:rect l="l" t="t" r="r" b="b"/>
            <a:pathLst>
              <a:path w="4919870" h="4114800">
                <a:moveTo>
                  <a:pt x="0" y="0"/>
                </a:moveTo>
                <a:lnTo>
                  <a:pt x="4919870" y="0"/>
                </a:lnTo>
                <a:lnTo>
                  <a:pt x="49198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997787" y="-1690668"/>
            <a:ext cx="4052975" cy="4114800"/>
          </a:xfrm>
          <a:custGeom>
            <a:avLst/>
            <a:gdLst/>
            <a:ahLst/>
            <a:cxnLst/>
            <a:rect l="l" t="t" r="r" b="b"/>
            <a:pathLst>
              <a:path w="4052975" h="4114800">
                <a:moveTo>
                  <a:pt x="0" y="0"/>
                </a:moveTo>
                <a:lnTo>
                  <a:pt x="4052974" y="0"/>
                </a:lnTo>
                <a:lnTo>
                  <a:pt x="40529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8495561" y="7116900"/>
            <a:ext cx="6900023" cy="1603787"/>
            <a:chOff x="0" y="0"/>
            <a:chExt cx="812800" cy="18892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88921"/>
            </a:xfrm>
            <a:custGeom>
              <a:avLst/>
              <a:gdLst/>
              <a:ahLst/>
              <a:cxnLst/>
              <a:rect l="l" t="t" r="r" b="b"/>
              <a:pathLst>
                <a:path w="812800" h="188921">
                  <a:moveTo>
                    <a:pt x="29172" y="0"/>
                  </a:moveTo>
                  <a:lnTo>
                    <a:pt x="783628" y="0"/>
                  </a:lnTo>
                  <a:cubicBezTo>
                    <a:pt x="791365" y="0"/>
                    <a:pt x="798785" y="3074"/>
                    <a:pt x="804256" y="8544"/>
                  </a:cubicBezTo>
                  <a:cubicBezTo>
                    <a:pt x="809726" y="14015"/>
                    <a:pt x="812800" y="21435"/>
                    <a:pt x="812800" y="29172"/>
                  </a:cubicBezTo>
                  <a:lnTo>
                    <a:pt x="812800" y="159748"/>
                  </a:lnTo>
                  <a:cubicBezTo>
                    <a:pt x="812800" y="167485"/>
                    <a:pt x="809726" y="174905"/>
                    <a:pt x="804256" y="180376"/>
                  </a:cubicBezTo>
                  <a:cubicBezTo>
                    <a:pt x="798785" y="185847"/>
                    <a:pt x="791365" y="188921"/>
                    <a:pt x="783628" y="188921"/>
                  </a:cubicBezTo>
                  <a:lnTo>
                    <a:pt x="29172" y="188921"/>
                  </a:lnTo>
                  <a:cubicBezTo>
                    <a:pt x="21435" y="188921"/>
                    <a:pt x="14015" y="185847"/>
                    <a:pt x="8544" y="180376"/>
                  </a:cubicBezTo>
                  <a:cubicBezTo>
                    <a:pt x="3074" y="174905"/>
                    <a:pt x="0" y="167485"/>
                    <a:pt x="0" y="159748"/>
                  </a:cubicBezTo>
                  <a:lnTo>
                    <a:pt x="0" y="29172"/>
                  </a:lnTo>
                  <a:cubicBezTo>
                    <a:pt x="0" y="21435"/>
                    <a:pt x="3074" y="14015"/>
                    <a:pt x="8544" y="8544"/>
                  </a:cubicBezTo>
                  <a:cubicBezTo>
                    <a:pt x="14015" y="3074"/>
                    <a:pt x="21435" y="0"/>
                    <a:pt x="29172" y="0"/>
                  </a:cubicBezTo>
                  <a:close/>
                </a:path>
              </a:pathLst>
            </a:custGeom>
            <a:solidFill>
              <a:srgbClr val="E46671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2270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7867" y="6579286"/>
            <a:ext cx="7611433" cy="2679014"/>
            <a:chOff x="0" y="0"/>
            <a:chExt cx="1731954" cy="609600"/>
          </a:xfrm>
        </p:grpSpPr>
        <p:sp>
          <p:nvSpPr>
            <p:cNvPr id="14" name="Freeform 14"/>
            <p:cNvSpPr/>
            <p:nvPr/>
          </p:nvSpPr>
          <p:spPr>
            <a:xfrm>
              <a:off x="10793" y="0"/>
              <a:ext cx="1710369" cy="609600"/>
            </a:xfrm>
            <a:custGeom>
              <a:avLst/>
              <a:gdLst/>
              <a:ahLst/>
              <a:cxnLst/>
              <a:rect l="l" t="t" r="r" b="b"/>
              <a:pathLst>
                <a:path w="1710369" h="609600">
                  <a:moveTo>
                    <a:pt x="231058" y="0"/>
                  </a:moveTo>
                  <a:lnTo>
                    <a:pt x="1682510" y="0"/>
                  </a:lnTo>
                  <a:cubicBezTo>
                    <a:pt x="1691465" y="0"/>
                    <a:pt x="1699874" y="4305"/>
                    <a:pt x="1705110" y="11569"/>
                  </a:cubicBezTo>
                  <a:cubicBezTo>
                    <a:pt x="1710346" y="18834"/>
                    <a:pt x="1711770" y="28173"/>
                    <a:pt x="1708939" y="36668"/>
                  </a:cubicBezTo>
                  <a:lnTo>
                    <a:pt x="1530184" y="572932"/>
                  </a:lnTo>
                  <a:cubicBezTo>
                    <a:pt x="1522885" y="594830"/>
                    <a:pt x="1502392" y="609600"/>
                    <a:pt x="1479310" y="609600"/>
                  </a:cubicBezTo>
                  <a:lnTo>
                    <a:pt x="27858" y="609600"/>
                  </a:lnTo>
                  <a:cubicBezTo>
                    <a:pt x="18904" y="609600"/>
                    <a:pt x="10495" y="605295"/>
                    <a:pt x="5259" y="598031"/>
                  </a:cubicBezTo>
                  <a:cubicBezTo>
                    <a:pt x="23" y="590766"/>
                    <a:pt x="-1402" y="581427"/>
                    <a:pt x="1430" y="572932"/>
                  </a:cubicBezTo>
                  <a:lnTo>
                    <a:pt x="180184" y="36668"/>
                  </a:lnTo>
                  <a:cubicBezTo>
                    <a:pt x="187484" y="14770"/>
                    <a:pt x="207976" y="0"/>
                    <a:pt x="231058" y="0"/>
                  </a:cubicBezTo>
                  <a:close/>
                </a:path>
              </a:pathLst>
            </a:custGeom>
            <a:solidFill>
              <a:srgbClr val="FFBEC4"/>
            </a:solidFill>
            <a:ln cap="rnd">
              <a:noFill/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1600" y="-38100"/>
              <a:ext cx="1528754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641136" y="7444910"/>
            <a:ext cx="1271894" cy="874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7384"/>
              </a:lnSpc>
              <a:spcBef>
                <a:spcPct val="0"/>
              </a:spcBef>
            </a:pPr>
            <a:r>
              <a:rPr lang="en-US" sz="5274" b="1" u="none" strike="noStrike" spc="22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532567" y="4265339"/>
            <a:ext cx="6467943" cy="1503357"/>
            <a:chOff x="0" y="0"/>
            <a:chExt cx="812800" cy="18892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188921"/>
            </a:xfrm>
            <a:custGeom>
              <a:avLst/>
              <a:gdLst/>
              <a:ahLst/>
              <a:cxnLst/>
              <a:rect l="l" t="t" r="r" b="b"/>
              <a:pathLst>
                <a:path w="812800" h="188921">
                  <a:moveTo>
                    <a:pt x="31121" y="0"/>
                  </a:moveTo>
                  <a:lnTo>
                    <a:pt x="781679" y="0"/>
                  </a:lnTo>
                  <a:cubicBezTo>
                    <a:pt x="789933" y="0"/>
                    <a:pt x="797848" y="3279"/>
                    <a:pt x="803685" y="9115"/>
                  </a:cubicBezTo>
                  <a:cubicBezTo>
                    <a:pt x="809521" y="14952"/>
                    <a:pt x="812800" y="22867"/>
                    <a:pt x="812800" y="31121"/>
                  </a:cubicBezTo>
                  <a:lnTo>
                    <a:pt x="812800" y="157800"/>
                  </a:lnTo>
                  <a:cubicBezTo>
                    <a:pt x="812800" y="166053"/>
                    <a:pt x="809521" y="173969"/>
                    <a:pt x="803685" y="179806"/>
                  </a:cubicBezTo>
                  <a:cubicBezTo>
                    <a:pt x="797848" y="185642"/>
                    <a:pt x="789933" y="188921"/>
                    <a:pt x="781679" y="188921"/>
                  </a:cubicBezTo>
                  <a:lnTo>
                    <a:pt x="31121" y="188921"/>
                  </a:lnTo>
                  <a:cubicBezTo>
                    <a:pt x="22867" y="188921"/>
                    <a:pt x="14952" y="185642"/>
                    <a:pt x="9115" y="179806"/>
                  </a:cubicBezTo>
                  <a:cubicBezTo>
                    <a:pt x="3279" y="173969"/>
                    <a:pt x="0" y="166053"/>
                    <a:pt x="0" y="157800"/>
                  </a:cubicBezTo>
                  <a:lnTo>
                    <a:pt x="0" y="31121"/>
                  </a:lnTo>
                  <a:cubicBezTo>
                    <a:pt x="0" y="22867"/>
                    <a:pt x="3279" y="14952"/>
                    <a:pt x="9115" y="9115"/>
                  </a:cubicBezTo>
                  <a:cubicBezTo>
                    <a:pt x="14952" y="3279"/>
                    <a:pt x="22867" y="0"/>
                    <a:pt x="31121" y="0"/>
                  </a:cubicBezTo>
                  <a:close/>
                </a:path>
              </a:pathLst>
            </a:custGeom>
            <a:solidFill>
              <a:srgbClr val="9366E4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12800" cy="2270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513062" y="3761391"/>
            <a:ext cx="7134805" cy="2511254"/>
            <a:chOff x="0" y="0"/>
            <a:chExt cx="1731954" cy="609600"/>
          </a:xfrm>
        </p:grpSpPr>
        <p:sp>
          <p:nvSpPr>
            <p:cNvPr id="21" name="Freeform 21"/>
            <p:cNvSpPr/>
            <p:nvPr/>
          </p:nvSpPr>
          <p:spPr>
            <a:xfrm>
              <a:off x="11514" y="0"/>
              <a:ext cx="1708927" cy="609600"/>
            </a:xfrm>
            <a:custGeom>
              <a:avLst/>
              <a:gdLst/>
              <a:ahLst/>
              <a:cxnLst/>
              <a:rect l="l" t="t" r="r" b="b"/>
              <a:pathLst>
                <a:path w="1708927" h="609600">
                  <a:moveTo>
                    <a:pt x="232920" y="0"/>
                  </a:moveTo>
                  <a:lnTo>
                    <a:pt x="1679207" y="0"/>
                  </a:lnTo>
                  <a:cubicBezTo>
                    <a:pt x="1688760" y="0"/>
                    <a:pt x="1697731" y="4592"/>
                    <a:pt x="1703317" y="12342"/>
                  </a:cubicBezTo>
                  <a:cubicBezTo>
                    <a:pt x="1708902" y="20092"/>
                    <a:pt x="1710422" y="30055"/>
                    <a:pt x="1707401" y="39118"/>
                  </a:cubicBezTo>
                  <a:lnTo>
                    <a:pt x="1530280" y="570482"/>
                  </a:lnTo>
                  <a:cubicBezTo>
                    <a:pt x="1522493" y="593843"/>
                    <a:pt x="1500631" y="609600"/>
                    <a:pt x="1476007" y="609600"/>
                  </a:cubicBezTo>
                  <a:lnTo>
                    <a:pt x="29719" y="609600"/>
                  </a:lnTo>
                  <a:cubicBezTo>
                    <a:pt x="20166" y="609600"/>
                    <a:pt x="11196" y="605008"/>
                    <a:pt x="5610" y="597258"/>
                  </a:cubicBezTo>
                  <a:cubicBezTo>
                    <a:pt x="24" y="589508"/>
                    <a:pt x="-1496" y="579545"/>
                    <a:pt x="1525" y="570482"/>
                  </a:cubicBezTo>
                  <a:lnTo>
                    <a:pt x="178647" y="39118"/>
                  </a:lnTo>
                  <a:cubicBezTo>
                    <a:pt x="186434" y="15757"/>
                    <a:pt x="208295" y="0"/>
                    <a:pt x="232920" y="0"/>
                  </a:cubicBezTo>
                  <a:close/>
                </a:path>
              </a:pathLst>
            </a:custGeom>
            <a:solidFill>
              <a:srgbClr val="EAE0FF"/>
            </a:solidFill>
            <a:ln cap="rnd">
              <a:noFill/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600" y="-38100"/>
              <a:ext cx="1528754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669026" y="4557916"/>
            <a:ext cx="1192248" cy="834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921"/>
              </a:lnSpc>
              <a:spcBef>
                <a:spcPct val="0"/>
              </a:spcBef>
            </a:pPr>
            <a:r>
              <a:rPr lang="en-US" sz="4944" b="1" u="none" strike="noStrike" spc="207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581400" y="4709871"/>
            <a:ext cx="5432288" cy="967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0"/>
              </a:lnSpc>
            </a:pPr>
            <a:r>
              <a:rPr lang="en-US" sz="2600" dirty="0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Maximize recall while improving precision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808240" y="7473912"/>
            <a:ext cx="5787082" cy="14631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900"/>
              </a:lnSpc>
            </a:pPr>
            <a:r>
              <a:rPr lang="en-US" sz="2600" dirty="0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Hybrid ML (resampling + XGBoost) improves precision without losing recall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734040" y="4102680"/>
            <a:ext cx="3576770" cy="46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20"/>
              </a:lnSpc>
            </a:pPr>
            <a:r>
              <a:rPr lang="en-US" sz="3000" b="1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Objective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844099" y="6930003"/>
            <a:ext cx="3815710" cy="46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20"/>
              </a:lnSpc>
            </a:pPr>
            <a:r>
              <a:rPr lang="en-US" sz="3000" b="1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Hypothesis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1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36802">
            <a:off x="2164283" y="2926515"/>
            <a:ext cx="2210457" cy="944468"/>
          </a:xfrm>
          <a:custGeom>
            <a:avLst/>
            <a:gdLst/>
            <a:ahLst/>
            <a:cxnLst/>
            <a:rect l="l" t="t" r="r" b="b"/>
            <a:pathLst>
              <a:path w="2210457" h="944468">
                <a:moveTo>
                  <a:pt x="0" y="0"/>
                </a:moveTo>
                <a:lnTo>
                  <a:pt x="2210457" y="0"/>
                </a:lnTo>
                <a:lnTo>
                  <a:pt x="2210457" y="944468"/>
                </a:lnTo>
                <a:lnTo>
                  <a:pt x="0" y="944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4989489">
            <a:off x="-2221695" y="6946932"/>
            <a:ext cx="4052975" cy="4114800"/>
          </a:xfrm>
          <a:custGeom>
            <a:avLst/>
            <a:gdLst/>
            <a:ahLst/>
            <a:cxnLst/>
            <a:rect l="l" t="t" r="r" b="b"/>
            <a:pathLst>
              <a:path w="4052975" h="4114800">
                <a:moveTo>
                  <a:pt x="0" y="0"/>
                </a:moveTo>
                <a:lnTo>
                  <a:pt x="4052975" y="0"/>
                </a:lnTo>
                <a:lnTo>
                  <a:pt x="40529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579560" y="-1014971"/>
            <a:ext cx="4919870" cy="4114800"/>
          </a:xfrm>
          <a:custGeom>
            <a:avLst/>
            <a:gdLst/>
            <a:ahLst/>
            <a:cxnLst/>
            <a:rect l="l" t="t" r="r" b="b"/>
            <a:pathLst>
              <a:path w="4919870" h="4114800">
                <a:moveTo>
                  <a:pt x="0" y="0"/>
                </a:moveTo>
                <a:lnTo>
                  <a:pt x="4919869" y="0"/>
                </a:lnTo>
                <a:lnTo>
                  <a:pt x="49198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17641" y="3249127"/>
            <a:ext cx="6487386" cy="1614426"/>
            <a:chOff x="0" y="0"/>
            <a:chExt cx="1708612" cy="42519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08612" cy="425199"/>
            </a:xfrm>
            <a:custGeom>
              <a:avLst/>
              <a:gdLst/>
              <a:ahLst/>
              <a:cxnLst/>
              <a:rect l="l" t="t" r="r" b="b"/>
              <a:pathLst>
                <a:path w="1708612" h="425199">
                  <a:moveTo>
                    <a:pt x="68023" y="0"/>
                  </a:moveTo>
                  <a:lnTo>
                    <a:pt x="1640589" y="0"/>
                  </a:lnTo>
                  <a:cubicBezTo>
                    <a:pt x="1678157" y="0"/>
                    <a:pt x="1708612" y="30455"/>
                    <a:pt x="1708612" y="68023"/>
                  </a:cubicBezTo>
                  <a:lnTo>
                    <a:pt x="1708612" y="357176"/>
                  </a:lnTo>
                  <a:cubicBezTo>
                    <a:pt x="1708612" y="394744"/>
                    <a:pt x="1678157" y="425199"/>
                    <a:pt x="1640589" y="425199"/>
                  </a:cubicBezTo>
                  <a:lnTo>
                    <a:pt x="68023" y="425199"/>
                  </a:lnTo>
                  <a:cubicBezTo>
                    <a:pt x="30455" y="425199"/>
                    <a:pt x="0" y="394744"/>
                    <a:pt x="0" y="357176"/>
                  </a:cubicBezTo>
                  <a:lnTo>
                    <a:pt x="0" y="68023"/>
                  </a:lnTo>
                  <a:cubicBezTo>
                    <a:pt x="0" y="30455"/>
                    <a:pt x="30455" y="0"/>
                    <a:pt x="68023" y="0"/>
                  </a:cubicBezTo>
                  <a:close/>
                </a:path>
              </a:pathLst>
            </a:custGeom>
            <a:solidFill>
              <a:srgbClr val="EAE0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708612" cy="472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17641" y="5159507"/>
            <a:ext cx="6487386" cy="1614426"/>
            <a:chOff x="0" y="0"/>
            <a:chExt cx="1708612" cy="42519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08612" cy="425199"/>
            </a:xfrm>
            <a:custGeom>
              <a:avLst/>
              <a:gdLst/>
              <a:ahLst/>
              <a:cxnLst/>
              <a:rect l="l" t="t" r="r" b="b"/>
              <a:pathLst>
                <a:path w="1708612" h="425199">
                  <a:moveTo>
                    <a:pt x="68023" y="0"/>
                  </a:moveTo>
                  <a:lnTo>
                    <a:pt x="1640589" y="0"/>
                  </a:lnTo>
                  <a:cubicBezTo>
                    <a:pt x="1678157" y="0"/>
                    <a:pt x="1708612" y="30455"/>
                    <a:pt x="1708612" y="68023"/>
                  </a:cubicBezTo>
                  <a:lnTo>
                    <a:pt x="1708612" y="357176"/>
                  </a:lnTo>
                  <a:cubicBezTo>
                    <a:pt x="1708612" y="394744"/>
                    <a:pt x="1678157" y="425199"/>
                    <a:pt x="1640589" y="425199"/>
                  </a:cubicBezTo>
                  <a:lnTo>
                    <a:pt x="68023" y="425199"/>
                  </a:lnTo>
                  <a:cubicBezTo>
                    <a:pt x="30455" y="425199"/>
                    <a:pt x="0" y="394744"/>
                    <a:pt x="0" y="357176"/>
                  </a:cubicBezTo>
                  <a:lnTo>
                    <a:pt x="0" y="68023"/>
                  </a:lnTo>
                  <a:cubicBezTo>
                    <a:pt x="0" y="30455"/>
                    <a:pt x="30455" y="0"/>
                    <a:pt x="68023" y="0"/>
                  </a:cubicBezTo>
                  <a:close/>
                </a:path>
              </a:pathLst>
            </a:custGeom>
            <a:solidFill>
              <a:srgbClr val="FFBEC4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708612" cy="472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01589" y="3526446"/>
            <a:ext cx="1795570" cy="1059788"/>
            <a:chOff x="0" y="0"/>
            <a:chExt cx="921211" cy="543720"/>
          </a:xfrm>
        </p:grpSpPr>
        <p:sp>
          <p:nvSpPr>
            <p:cNvPr id="13" name="Freeform 13"/>
            <p:cNvSpPr/>
            <p:nvPr/>
          </p:nvSpPr>
          <p:spPr>
            <a:xfrm>
              <a:off x="25817" y="0"/>
              <a:ext cx="878194" cy="543720"/>
            </a:xfrm>
            <a:custGeom>
              <a:avLst/>
              <a:gdLst/>
              <a:ahLst/>
              <a:cxnLst/>
              <a:rect l="l" t="t" r="r" b="b"/>
              <a:pathLst>
                <a:path w="878194" h="543720">
                  <a:moveTo>
                    <a:pt x="25923" y="0"/>
                  </a:moveTo>
                  <a:lnTo>
                    <a:pt x="640454" y="0"/>
                  </a:lnTo>
                  <a:cubicBezTo>
                    <a:pt x="673018" y="0"/>
                    <a:pt x="703674" y="15360"/>
                    <a:pt x="723170" y="41443"/>
                  </a:cubicBezTo>
                  <a:lnTo>
                    <a:pt x="864418" y="230417"/>
                  </a:lnTo>
                  <a:cubicBezTo>
                    <a:pt x="882786" y="254993"/>
                    <a:pt x="882786" y="288728"/>
                    <a:pt x="864418" y="313303"/>
                  </a:cubicBezTo>
                  <a:lnTo>
                    <a:pt x="723170" y="502278"/>
                  </a:lnTo>
                  <a:cubicBezTo>
                    <a:pt x="703674" y="528361"/>
                    <a:pt x="673018" y="543720"/>
                    <a:pt x="640454" y="543720"/>
                  </a:cubicBezTo>
                  <a:lnTo>
                    <a:pt x="25923" y="543720"/>
                  </a:lnTo>
                  <a:cubicBezTo>
                    <a:pt x="16112" y="543720"/>
                    <a:pt x="7141" y="538181"/>
                    <a:pt x="2746" y="529409"/>
                  </a:cubicBezTo>
                  <a:cubicBezTo>
                    <a:pt x="-1649" y="520638"/>
                    <a:pt x="-715" y="510136"/>
                    <a:pt x="5159" y="502278"/>
                  </a:cubicBezTo>
                  <a:lnTo>
                    <a:pt x="146407" y="313303"/>
                  </a:lnTo>
                  <a:cubicBezTo>
                    <a:pt x="164776" y="288728"/>
                    <a:pt x="164776" y="254993"/>
                    <a:pt x="146407" y="230417"/>
                  </a:cubicBezTo>
                  <a:lnTo>
                    <a:pt x="5159" y="41443"/>
                  </a:lnTo>
                  <a:cubicBezTo>
                    <a:pt x="-715" y="33584"/>
                    <a:pt x="-1649" y="23083"/>
                    <a:pt x="2746" y="14311"/>
                  </a:cubicBezTo>
                  <a:cubicBezTo>
                    <a:pt x="7141" y="5539"/>
                    <a:pt x="16112" y="0"/>
                    <a:pt x="25923" y="0"/>
                  </a:cubicBezTo>
                  <a:close/>
                </a:path>
              </a:pathLst>
            </a:custGeom>
            <a:solidFill>
              <a:srgbClr val="9366E4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77800" y="-38100"/>
              <a:ext cx="66721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701589" y="5436826"/>
            <a:ext cx="1795570" cy="1059788"/>
            <a:chOff x="0" y="0"/>
            <a:chExt cx="921211" cy="543720"/>
          </a:xfrm>
        </p:grpSpPr>
        <p:sp>
          <p:nvSpPr>
            <p:cNvPr id="16" name="Freeform 16"/>
            <p:cNvSpPr/>
            <p:nvPr/>
          </p:nvSpPr>
          <p:spPr>
            <a:xfrm>
              <a:off x="25817" y="0"/>
              <a:ext cx="878194" cy="543720"/>
            </a:xfrm>
            <a:custGeom>
              <a:avLst/>
              <a:gdLst/>
              <a:ahLst/>
              <a:cxnLst/>
              <a:rect l="l" t="t" r="r" b="b"/>
              <a:pathLst>
                <a:path w="878194" h="543720">
                  <a:moveTo>
                    <a:pt x="25923" y="0"/>
                  </a:moveTo>
                  <a:lnTo>
                    <a:pt x="640454" y="0"/>
                  </a:lnTo>
                  <a:cubicBezTo>
                    <a:pt x="673018" y="0"/>
                    <a:pt x="703674" y="15360"/>
                    <a:pt x="723170" y="41443"/>
                  </a:cubicBezTo>
                  <a:lnTo>
                    <a:pt x="864418" y="230417"/>
                  </a:lnTo>
                  <a:cubicBezTo>
                    <a:pt x="882786" y="254993"/>
                    <a:pt x="882786" y="288728"/>
                    <a:pt x="864418" y="313303"/>
                  </a:cubicBezTo>
                  <a:lnTo>
                    <a:pt x="723170" y="502278"/>
                  </a:lnTo>
                  <a:cubicBezTo>
                    <a:pt x="703674" y="528361"/>
                    <a:pt x="673018" y="543720"/>
                    <a:pt x="640454" y="543720"/>
                  </a:cubicBezTo>
                  <a:lnTo>
                    <a:pt x="25923" y="543720"/>
                  </a:lnTo>
                  <a:cubicBezTo>
                    <a:pt x="16112" y="543720"/>
                    <a:pt x="7141" y="538181"/>
                    <a:pt x="2746" y="529409"/>
                  </a:cubicBezTo>
                  <a:cubicBezTo>
                    <a:pt x="-1649" y="520638"/>
                    <a:pt x="-715" y="510136"/>
                    <a:pt x="5159" y="502278"/>
                  </a:cubicBezTo>
                  <a:lnTo>
                    <a:pt x="146407" y="313303"/>
                  </a:lnTo>
                  <a:cubicBezTo>
                    <a:pt x="164776" y="288728"/>
                    <a:pt x="164776" y="254993"/>
                    <a:pt x="146407" y="230417"/>
                  </a:cubicBezTo>
                  <a:lnTo>
                    <a:pt x="5159" y="41443"/>
                  </a:lnTo>
                  <a:cubicBezTo>
                    <a:pt x="-715" y="33584"/>
                    <a:pt x="-1649" y="23083"/>
                    <a:pt x="2746" y="14311"/>
                  </a:cubicBezTo>
                  <a:cubicBezTo>
                    <a:pt x="7141" y="5539"/>
                    <a:pt x="16112" y="0"/>
                    <a:pt x="25923" y="0"/>
                  </a:cubicBezTo>
                  <a:close/>
                </a:path>
              </a:pathLst>
            </a:custGeom>
            <a:solidFill>
              <a:srgbClr val="E46671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77800" y="-38100"/>
              <a:ext cx="66721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7342750" y="3639816"/>
            <a:ext cx="724554" cy="778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22"/>
              </a:lnSpc>
            </a:pPr>
            <a:r>
              <a:rPr lang="en-US" sz="4587" b="1" spc="192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142278" y="5550196"/>
            <a:ext cx="925026" cy="78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22"/>
              </a:lnSpc>
              <a:spcBef>
                <a:spcPct val="0"/>
              </a:spcBef>
            </a:pPr>
            <a:r>
              <a:rPr lang="en-US" sz="4587" b="1" u="none" strike="noStrike" spc="192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217641" y="7069887"/>
            <a:ext cx="6487386" cy="1614426"/>
            <a:chOff x="0" y="0"/>
            <a:chExt cx="1708612" cy="42519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08612" cy="425199"/>
            </a:xfrm>
            <a:custGeom>
              <a:avLst/>
              <a:gdLst/>
              <a:ahLst/>
              <a:cxnLst/>
              <a:rect l="l" t="t" r="r" b="b"/>
              <a:pathLst>
                <a:path w="1708612" h="425199">
                  <a:moveTo>
                    <a:pt x="68023" y="0"/>
                  </a:moveTo>
                  <a:lnTo>
                    <a:pt x="1640589" y="0"/>
                  </a:lnTo>
                  <a:cubicBezTo>
                    <a:pt x="1678157" y="0"/>
                    <a:pt x="1708612" y="30455"/>
                    <a:pt x="1708612" y="68023"/>
                  </a:cubicBezTo>
                  <a:lnTo>
                    <a:pt x="1708612" y="357176"/>
                  </a:lnTo>
                  <a:cubicBezTo>
                    <a:pt x="1708612" y="394744"/>
                    <a:pt x="1678157" y="425199"/>
                    <a:pt x="1640589" y="425199"/>
                  </a:cubicBezTo>
                  <a:lnTo>
                    <a:pt x="68023" y="425199"/>
                  </a:lnTo>
                  <a:cubicBezTo>
                    <a:pt x="30455" y="425199"/>
                    <a:pt x="0" y="394744"/>
                    <a:pt x="0" y="357176"/>
                  </a:cubicBezTo>
                  <a:lnTo>
                    <a:pt x="0" y="68023"/>
                  </a:lnTo>
                  <a:cubicBezTo>
                    <a:pt x="0" y="30455"/>
                    <a:pt x="30455" y="0"/>
                    <a:pt x="68023" y="0"/>
                  </a:cubicBezTo>
                  <a:close/>
                </a:path>
              </a:pathLst>
            </a:custGeom>
            <a:solidFill>
              <a:srgbClr val="B5EBE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708612" cy="472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01589" y="7347206"/>
            <a:ext cx="1795570" cy="1059788"/>
            <a:chOff x="0" y="0"/>
            <a:chExt cx="921211" cy="543720"/>
          </a:xfrm>
        </p:grpSpPr>
        <p:sp>
          <p:nvSpPr>
            <p:cNvPr id="24" name="Freeform 24"/>
            <p:cNvSpPr/>
            <p:nvPr/>
          </p:nvSpPr>
          <p:spPr>
            <a:xfrm>
              <a:off x="25817" y="0"/>
              <a:ext cx="878194" cy="543720"/>
            </a:xfrm>
            <a:custGeom>
              <a:avLst/>
              <a:gdLst/>
              <a:ahLst/>
              <a:cxnLst/>
              <a:rect l="l" t="t" r="r" b="b"/>
              <a:pathLst>
                <a:path w="878194" h="543720">
                  <a:moveTo>
                    <a:pt x="25923" y="0"/>
                  </a:moveTo>
                  <a:lnTo>
                    <a:pt x="640454" y="0"/>
                  </a:lnTo>
                  <a:cubicBezTo>
                    <a:pt x="673018" y="0"/>
                    <a:pt x="703674" y="15360"/>
                    <a:pt x="723170" y="41443"/>
                  </a:cubicBezTo>
                  <a:lnTo>
                    <a:pt x="864418" y="230417"/>
                  </a:lnTo>
                  <a:cubicBezTo>
                    <a:pt x="882786" y="254993"/>
                    <a:pt x="882786" y="288728"/>
                    <a:pt x="864418" y="313303"/>
                  </a:cubicBezTo>
                  <a:lnTo>
                    <a:pt x="723170" y="502278"/>
                  </a:lnTo>
                  <a:cubicBezTo>
                    <a:pt x="703674" y="528361"/>
                    <a:pt x="673018" y="543720"/>
                    <a:pt x="640454" y="543720"/>
                  </a:cubicBezTo>
                  <a:lnTo>
                    <a:pt x="25923" y="543720"/>
                  </a:lnTo>
                  <a:cubicBezTo>
                    <a:pt x="16112" y="543720"/>
                    <a:pt x="7141" y="538181"/>
                    <a:pt x="2746" y="529409"/>
                  </a:cubicBezTo>
                  <a:cubicBezTo>
                    <a:pt x="-1649" y="520638"/>
                    <a:pt x="-715" y="510136"/>
                    <a:pt x="5159" y="502278"/>
                  </a:cubicBezTo>
                  <a:lnTo>
                    <a:pt x="146407" y="313303"/>
                  </a:lnTo>
                  <a:cubicBezTo>
                    <a:pt x="164776" y="288728"/>
                    <a:pt x="164776" y="254993"/>
                    <a:pt x="146407" y="230417"/>
                  </a:cubicBezTo>
                  <a:lnTo>
                    <a:pt x="5159" y="41443"/>
                  </a:lnTo>
                  <a:cubicBezTo>
                    <a:pt x="-715" y="33584"/>
                    <a:pt x="-1649" y="23083"/>
                    <a:pt x="2746" y="14311"/>
                  </a:cubicBezTo>
                  <a:cubicBezTo>
                    <a:pt x="7141" y="5539"/>
                    <a:pt x="16112" y="0"/>
                    <a:pt x="25923" y="0"/>
                  </a:cubicBezTo>
                  <a:close/>
                </a:path>
              </a:pathLst>
            </a:custGeom>
            <a:solidFill>
              <a:srgbClr val="38AEB6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77800" y="-38100"/>
              <a:ext cx="66721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142278" y="7460576"/>
            <a:ext cx="925026" cy="78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22"/>
              </a:lnSpc>
              <a:spcBef>
                <a:spcPct val="0"/>
              </a:spcBef>
            </a:pPr>
            <a:r>
              <a:rPr lang="en-US" sz="4587" b="1" u="none" strike="noStrike" spc="192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97158" y="7395787"/>
            <a:ext cx="9118774" cy="90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1C1C1A"/>
                </a:solidFill>
                <a:latin typeface="Roboto"/>
                <a:ea typeface="Roboto"/>
                <a:cs typeface="Roboto"/>
                <a:sym typeface="Roboto"/>
              </a:rPr>
              <a:t>No GCC-specific, balanced, deployable framework exists, 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1C1C1A"/>
                </a:solidFill>
                <a:latin typeface="Roboto"/>
                <a:ea typeface="Roboto"/>
                <a:cs typeface="Roboto"/>
                <a:sym typeface="Roboto"/>
              </a:rPr>
              <a:t>highlighting the need for a tailored solution.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56268" y="3679053"/>
            <a:ext cx="4673519" cy="57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00"/>
              </a:lnSpc>
              <a:spcBef>
                <a:spcPct val="0"/>
              </a:spcBef>
            </a:pPr>
            <a:r>
              <a:rPr lang="en-US" sz="3357" b="1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SMOTE &amp; XGBoost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56268" y="5643202"/>
            <a:ext cx="4673519" cy="580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Limitations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56268" y="7615739"/>
            <a:ext cx="4673519" cy="580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Research Gap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97158" y="3517065"/>
            <a:ext cx="6197209" cy="90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SMOTE &amp; XGBoost are widely used, 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But result in high recall, low precision.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97158" y="5225884"/>
            <a:ext cx="8524877" cy="1362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Oversampling leads to noise; 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Cost-sensitive methods are parameter sensitive; 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Ensemble methods are computationally expensive.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4335959" y="1042429"/>
            <a:ext cx="8322398" cy="1160088"/>
            <a:chOff x="0" y="0"/>
            <a:chExt cx="2191907" cy="30553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91907" cy="305538"/>
            </a:xfrm>
            <a:custGeom>
              <a:avLst/>
              <a:gdLst/>
              <a:ahLst/>
              <a:cxnLst/>
              <a:rect l="l" t="t" r="r" b="b"/>
              <a:pathLst>
                <a:path w="2191907" h="305538">
                  <a:moveTo>
                    <a:pt x="47443" y="0"/>
                  </a:moveTo>
                  <a:lnTo>
                    <a:pt x="2144464" y="0"/>
                  </a:lnTo>
                  <a:cubicBezTo>
                    <a:pt x="2170666" y="0"/>
                    <a:pt x="2191907" y="21241"/>
                    <a:pt x="2191907" y="47443"/>
                  </a:cubicBezTo>
                  <a:lnTo>
                    <a:pt x="2191907" y="258095"/>
                  </a:lnTo>
                  <a:cubicBezTo>
                    <a:pt x="2191907" y="284297"/>
                    <a:pt x="2170666" y="305538"/>
                    <a:pt x="2144464" y="305538"/>
                  </a:cubicBezTo>
                  <a:lnTo>
                    <a:pt x="47443" y="305538"/>
                  </a:lnTo>
                  <a:cubicBezTo>
                    <a:pt x="21241" y="305538"/>
                    <a:pt x="0" y="284297"/>
                    <a:pt x="0" y="258095"/>
                  </a:cubicBezTo>
                  <a:lnTo>
                    <a:pt x="0" y="47443"/>
                  </a:lnTo>
                  <a:cubicBezTo>
                    <a:pt x="0" y="21241"/>
                    <a:pt x="21241" y="0"/>
                    <a:pt x="47443" y="0"/>
                  </a:cubicBezTo>
                  <a:close/>
                </a:path>
              </a:pathLst>
            </a:custGeom>
            <a:solidFill>
              <a:srgbClr val="D8CFE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2191907" cy="353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4568646" y="1193831"/>
            <a:ext cx="7790483" cy="809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LITERATURE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C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58578" y="1057388"/>
            <a:ext cx="1429104" cy="1366743"/>
          </a:xfrm>
          <a:custGeom>
            <a:avLst/>
            <a:gdLst/>
            <a:ahLst/>
            <a:cxnLst/>
            <a:rect l="l" t="t" r="r" b="b"/>
            <a:pathLst>
              <a:path w="1429104" h="1366743">
                <a:moveTo>
                  <a:pt x="0" y="0"/>
                </a:moveTo>
                <a:lnTo>
                  <a:pt x="1429105" y="0"/>
                </a:lnTo>
                <a:lnTo>
                  <a:pt x="1429105" y="1366744"/>
                </a:lnTo>
                <a:lnTo>
                  <a:pt x="0" y="13667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259300" y="366732"/>
            <a:ext cx="4919870" cy="4114800"/>
          </a:xfrm>
          <a:custGeom>
            <a:avLst/>
            <a:gdLst/>
            <a:ahLst/>
            <a:cxnLst/>
            <a:rect l="l" t="t" r="r" b="b"/>
            <a:pathLst>
              <a:path w="4919870" h="4114800">
                <a:moveTo>
                  <a:pt x="0" y="0"/>
                </a:moveTo>
                <a:lnTo>
                  <a:pt x="4919870" y="0"/>
                </a:lnTo>
                <a:lnTo>
                  <a:pt x="49198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997787" y="-1690668"/>
            <a:ext cx="4052975" cy="4114800"/>
          </a:xfrm>
          <a:custGeom>
            <a:avLst/>
            <a:gdLst/>
            <a:ahLst/>
            <a:cxnLst/>
            <a:rect l="l" t="t" r="r" b="b"/>
            <a:pathLst>
              <a:path w="4052975" h="4114800">
                <a:moveTo>
                  <a:pt x="0" y="0"/>
                </a:moveTo>
                <a:lnTo>
                  <a:pt x="4052974" y="0"/>
                </a:lnTo>
                <a:lnTo>
                  <a:pt x="40529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5558164" y="3459876"/>
            <a:ext cx="6922886" cy="0"/>
          </a:xfrm>
          <a:prstGeom prst="line">
            <a:avLst/>
          </a:prstGeom>
          <a:ln w="47625" cap="flat">
            <a:solidFill>
              <a:srgbClr val="8D9193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6598384" y="2200107"/>
            <a:ext cx="4833992" cy="1737329"/>
            <a:chOff x="0" y="0"/>
            <a:chExt cx="1491632" cy="536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91632" cy="536090"/>
            </a:xfrm>
            <a:custGeom>
              <a:avLst/>
              <a:gdLst/>
              <a:ahLst/>
              <a:cxnLst/>
              <a:rect l="l" t="t" r="r" b="b"/>
              <a:pathLst>
                <a:path w="1491632" h="536090">
                  <a:moveTo>
                    <a:pt x="48047" y="0"/>
                  </a:moveTo>
                  <a:lnTo>
                    <a:pt x="1443585" y="0"/>
                  </a:lnTo>
                  <a:cubicBezTo>
                    <a:pt x="1470121" y="0"/>
                    <a:pt x="1491632" y="21511"/>
                    <a:pt x="1491632" y="48047"/>
                  </a:cubicBezTo>
                  <a:lnTo>
                    <a:pt x="1491632" y="488043"/>
                  </a:lnTo>
                  <a:cubicBezTo>
                    <a:pt x="1491632" y="514579"/>
                    <a:pt x="1470121" y="536090"/>
                    <a:pt x="1443585" y="536090"/>
                  </a:cubicBezTo>
                  <a:lnTo>
                    <a:pt x="48047" y="536090"/>
                  </a:lnTo>
                  <a:cubicBezTo>
                    <a:pt x="21511" y="536090"/>
                    <a:pt x="0" y="514579"/>
                    <a:pt x="0" y="488043"/>
                  </a:cubicBezTo>
                  <a:lnTo>
                    <a:pt x="0" y="48047"/>
                  </a:lnTo>
                  <a:cubicBezTo>
                    <a:pt x="0" y="21511"/>
                    <a:pt x="21511" y="0"/>
                    <a:pt x="48047" y="0"/>
                  </a:cubicBezTo>
                  <a:close/>
                </a:path>
              </a:pathLst>
            </a:custGeom>
            <a:solidFill>
              <a:srgbClr val="EAE0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91632" cy="5741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807964" y="2351228"/>
            <a:ext cx="4414833" cy="1368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85"/>
              </a:lnSpc>
            </a:pPr>
            <a:r>
              <a:rPr lang="en-US" sz="3989" b="1">
                <a:solidFill>
                  <a:srgbClr val="1C1C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Hybrid Approach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96681" y="7336516"/>
            <a:ext cx="2953467" cy="2108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49"/>
              </a:lnSpc>
            </a:pPr>
            <a:r>
              <a:rPr lang="en-US" sz="1899">
                <a:solidFill>
                  <a:srgbClr val="1C1C1A"/>
                </a:solidFill>
                <a:latin typeface="Roboto"/>
                <a:ea typeface="Roboto"/>
                <a:cs typeface="Roboto"/>
                <a:sym typeface="Roboto"/>
              </a:rPr>
              <a:t>Th</a:t>
            </a:r>
            <a:r>
              <a:rPr lang="en-US" sz="1899" u="none">
                <a:solidFill>
                  <a:srgbClr val="1C1C1A"/>
                </a:solidFill>
                <a:latin typeface="Roboto"/>
                <a:ea typeface="Roboto"/>
                <a:cs typeface="Roboto"/>
                <a:sym typeface="Roboto"/>
              </a:rPr>
              <a:t>e framework integrates adaptive k-neighbor SMOTE with k=3 to generate synthetic samples closer to real fraud patterns.</a:t>
            </a:r>
          </a:p>
        </p:txBody>
      </p:sp>
      <p:sp>
        <p:nvSpPr>
          <p:cNvPr id="11" name="AutoShape 11"/>
          <p:cNvSpPr/>
          <p:nvPr/>
        </p:nvSpPr>
        <p:spPr>
          <a:xfrm flipV="1">
            <a:off x="5558164" y="3459876"/>
            <a:ext cx="0" cy="1253621"/>
          </a:xfrm>
          <a:prstGeom prst="line">
            <a:avLst/>
          </a:prstGeom>
          <a:ln w="47625" cap="flat">
            <a:solidFill>
              <a:srgbClr val="8D9193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4066180" y="5643432"/>
            <a:ext cx="2983968" cy="1308416"/>
            <a:chOff x="0" y="0"/>
            <a:chExt cx="920767" cy="4037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20767" cy="403740"/>
            </a:xfrm>
            <a:custGeom>
              <a:avLst/>
              <a:gdLst/>
              <a:ahLst/>
              <a:cxnLst/>
              <a:rect l="l" t="t" r="r" b="b"/>
              <a:pathLst>
                <a:path w="920767" h="403740">
                  <a:moveTo>
                    <a:pt x="77835" y="0"/>
                  </a:moveTo>
                  <a:lnTo>
                    <a:pt x="842932" y="0"/>
                  </a:lnTo>
                  <a:cubicBezTo>
                    <a:pt x="863575" y="0"/>
                    <a:pt x="883373" y="8200"/>
                    <a:pt x="897970" y="22797"/>
                  </a:cubicBezTo>
                  <a:cubicBezTo>
                    <a:pt x="912567" y="37394"/>
                    <a:pt x="920767" y="57192"/>
                    <a:pt x="920767" y="77835"/>
                  </a:cubicBezTo>
                  <a:lnTo>
                    <a:pt x="920767" y="325905"/>
                  </a:lnTo>
                  <a:cubicBezTo>
                    <a:pt x="920767" y="346548"/>
                    <a:pt x="912567" y="366346"/>
                    <a:pt x="897970" y="380942"/>
                  </a:cubicBezTo>
                  <a:cubicBezTo>
                    <a:pt x="883373" y="395539"/>
                    <a:pt x="863575" y="403740"/>
                    <a:pt x="842932" y="403740"/>
                  </a:cubicBezTo>
                  <a:lnTo>
                    <a:pt x="77835" y="403740"/>
                  </a:lnTo>
                  <a:cubicBezTo>
                    <a:pt x="57192" y="403740"/>
                    <a:pt x="37394" y="395539"/>
                    <a:pt x="22797" y="380942"/>
                  </a:cubicBezTo>
                  <a:cubicBezTo>
                    <a:pt x="8200" y="366346"/>
                    <a:pt x="0" y="346548"/>
                    <a:pt x="0" y="325905"/>
                  </a:cubicBezTo>
                  <a:lnTo>
                    <a:pt x="0" y="77835"/>
                  </a:lnTo>
                  <a:cubicBezTo>
                    <a:pt x="0" y="57192"/>
                    <a:pt x="8200" y="37394"/>
                    <a:pt x="22797" y="22797"/>
                  </a:cubicBezTo>
                  <a:cubicBezTo>
                    <a:pt x="37394" y="8200"/>
                    <a:pt x="57192" y="0"/>
                    <a:pt x="77835" y="0"/>
                  </a:cubicBezTo>
                  <a:close/>
                </a:path>
              </a:pathLst>
            </a:custGeom>
            <a:solidFill>
              <a:srgbClr val="FFBEC4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20767" cy="4418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071003" y="5154693"/>
            <a:ext cx="974322" cy="97432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6671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10800000">
            <a:off x="5318450" y="4580346"/>
            <a:ext cx="479427" cy="369739"/>
            <a:chOff x="0" y="0"/>
            <a:chExt cx="922188" cy="711200"/>
          </a:xfrm>
        </p:grpSpPr>
        <p:sp>
          <p:nvSpPr>
            <p:cNvPr id="19" name="Freeform 19"/>
            <p:cNvSpPr/>
            <p:nvPr/>
          </p:nvSpPr>
          <p:spPr>
            <a:xfrm>
              <a:off x="73726" y="87757"/>
              <a:ext cx="774737" cy="623443"/>
            </a:xfrm>
            <a:custGeom>
              <a:avLst/>
              <a:gdLst/>
              <a:ahLst/>
              <a:cxnLst/>
              <a:rect l="l" t="t" r="r" b="b"/>
              <a:pathLst>
                <a:path w="774737" h="623443">
                  <a:moveTo>
                    <a:pt x="475215" y="47740"/>
                  </a:moveTo>
                  <a:lnTo>
                    <a:pt x="760614" y="487946"/>
                  </a:lnTo>
                  <a:cubicBezTo>
                    <a:pt x="778111" y="514933"/>
                    <a:pt x="779443" y="549330"/>
                    <a:pt x="764086" y="577589"/>
                  </a:cubicBezTo>
                  <a:cubicBezTo>
                    <a:pt x="748728" y="605849"/>
                    <a:pt x="719142" y="623443"/>
                    <a:pt x="686979" y="623443"/>
                  </a:cubicBezTo>
                  <a:lnTo>
                    <a:pt x="87757" y="623443"/>
                  </a:lnTo>
                  <a:cubicBezTo>
                    <a:pt x="55594" y="623443"/>
                    <a:pt x="26008" y="605849"/>
                    <a:pt x="10650" y="577589"/>
                  </a:cubicBezTo>
                  <a:cubicBezTo>
                    <a:pt x="-4707" y="549330"/>
                    <a:pt x="-3376" y="514933"/>
                    <a:pt x="14121" y="487946"/>
                  </a:cubicBezTo>
                  <a:lnTo>
                    <a:pt x="299521" y="47740"/>
                  </a:lnTo>
                  <a:cubicBezTo>
                    <a:pt x="318822" y="17970"/>
                    <a:pt x="351888" y="0"/>
                    <a:pt x="387368" y="0"/>
                  </a:cubicBezTo>
                  <a:cubicBezTo>
                    <a:pt x="422848" y="0"/>
                    <a:pt x="455914" y="17970"/>
                    <a:pt x="475215" y="47740"/>
                  </a:cubicBezTo>
                  <a:close/>
                </a:path>
              </a:pathLst>
            </a:custGeom>
            <a:solidFill>
              <a:srgbClr val="E46671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4092" y="292100"/>
              <a:ext cx="634004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 flipH="1" flipV="1">
            <a:off x="9015380" y="3937437"/>
            <a:ext cx="1052" cy="776060"/>
          </a:xfrm>
          <a:prstGeom prst="line">
            <a:avLst/>
          </a:prstGeom>
          <a:ln w="47625" cap="flat">
            <a:solidFill>
              <a:srgbClr val="8D9193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7524448" y="5645009"/>
            <a:ext cx="2983968" cy="1308416"/>
            <a:chOff x="0" y="0"/>
            <a:chExt cx="920767" cy="4037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20767" cy="403740"/>
            </a:xfrm>
            <a:custGeom>
              <a:avLst/>
              <a:gdLst/>
              <a:ahLst/>
              <a:cxnLst/>
              <a:rect l="l" t="t" r="r" b="b"/>
              <a:pathLst>
                <a:path w="920767" h="403740">
                  <a:moveTo>
                    <a:pt x="77835" y="0"/>
                  </a:moveTo>
                  <a:lnTo>
                    <a:pt x="842932" y="0"/>
                  </a:lnTo>
                  <a:cubicBezTo>
                    <a:pt x="863575" y="0"/>
                    <a:pt x="883373" y="8200"/>
                    <a:pt x="897970" y="22797"/>
                  </a:cubicBezTo>
                  <a:cubicBezTo>
                    <a:pt x="912567" y="37394"/>
                    <a:pt x="920767" y="57192"/>
                    <a:pt x="920767" y="77835"/>
                  </a:cubicBezTo>
                  <a:lnTo>
                    <a:pt x="920767" y="325905"/>
                  </a:lnTo>
                  <a:cubicBezTo>
                    <a:pt x="920767" y="346548"/>
                    <a:pt x="912567" y="366346"/>
                    <a:pt x="897970" y="380942"/>
                  </a:cubicBezTo>
                  <a:cubicBezTo>
                    <a:pt x="883373" y="395539"/>
                    <a:pt x="863575" y="403740"/>
                    <a:pt x="842932" y="403740"/>
                  </a:cubicBezTo>
                  <a:lnTo>
                    <a:pt x="77835" y="403740"/>
                  </a:lnTo>
                  <a:cubicBezTo>
                    <a:pt x="57192" y="403740"/>
                    <a:pt x="37394" y="395539"/>
                    <a:pt x="22797" y="380942"/>
                  </a:cubicBezTo>
                  <a:cubicBezTo>
                    <a:pt x="8200" y="366346"/>
                    <a:pt x="0" y="346548"/>
                    <a:pt x="0" y="325905"/>
                  </a:cubicBezTo>
                  <a:lnTo>
                    <a:pt x="0" y="77835"/>
                  </a:lnTo>
                  <a:cubicBezTo>
                    <a:pt x="0" y="57192"/>
                    <a:pt x="8200" y="37394"/>
                    <a:pt x="22797" y="22797"/>
                  </a:cubicBezTo>
                  <a:cubicBezTo>
                    <a:pt x="37394" y="8200"/>
                    <a:pt x="57192" y="0"/>
                    <a:pt x="77835" y="0"/>
                  </a:cubicBezTo>
                  <a:close/>
                </a:path>
              </a:pathLst>
            </a:custGeom>
            <a:solidFill>
              <a:srgbClr val="B5EBE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920767" cy="4418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529271" y="5154693"/>
            <a:ext cx="974322" cy="974322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AEB6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7554949" y="7336516"/>
            <a:ext cx="2922966" cy="1756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49"/>
              </a:lnSpc>
            </a:pPr>
            <a:r>
              <a:rPr lang="en-US" sz="1899">
                <a:solidFill>
                  <a:srgbClr val="1C1C1A"/>
                </a:solidFill>
                <a:latin typeface="Roboto"/>
                <a:ea typeface="Roboto"/>
                <a:cs typeface="Roboto"/>
                <a:sym typeface="Roboto"/>
              </a:rPr>
              <a:t>Ut</a:t>
            </a:r>
            <a:r>
              <a:rPr lang="en-US" sz="1899" u="none">
                <a:solidFill>
                  <a:srgbClr val="1C1C1A"/>
                </a:solidFill>
                <a:latin typeface="Roboto"/>
                <a:ea typeface="Roboto"/>
                <a:cs typeface="Roboto"/>
                <a:sym typeface="Roboto"/>
              </a:rPr>
              <a:t>ilizing hybrid resampling, combining SMOTE and random undersampling, helps balance the dataset to prevent overfitting.</a:t>
            </a:r>
          </a:p>
        </p:txBody>
      </p:sp>
      <p:grpSp>
        <p:nvGrpSpPr>
          <p:cNvPr id="29" name="Group 29"/>
          <p:cNvGrpSpPr/>
          <p:nvPr/>
        </p:nvGrpSpPr>
        <p:grpSpPr>
          <a:xfrm rot="-10800000">
            <a:off x="8776718" y="4580346"/>
            <a:ext cx="479427" cy="369739"/>
            <a:chOff x="0" y="0"/>
            <a:chExt cx="922188" cy="711200"/>
          </a:xfrm>
        </p:grpSpPr>
        <p:sp>
          <p:nvSpPr>
            <p:cNvPr id="30" name="Freeform 30"/>
            <p:cNvSpPr/>
            <p:nvPr/>
          </p:nvSpPr>
          <p:spPr>
            <a:xfrm>
              <a:off x="73726" y="87757"/>
              <a:ext cx="774737" cy="623443"/>
            </a:xfrm>
            <a:custGeom>
              <a:avLst/>
              <a:gdLst/>
              <a:ahLst/>
              <a:cxnLst/>
              <a:rect l="l" t="t" r="r" b="b"/>
              <a:pathLst>
                <a:path w="774737" h="623443">
                  <a:moveTo>
                    <a:pt x="475215" y="47740"/>
                  </a:moveTo>
                  <a:lnTo>
                    <a:pt x="760614" y="487946"/>
                  </a:lnTo>
                  <a:cubicBezTo>
                    <a:pt x="778111" y="514933"/>
                    <a:pt x="779443" y="549330"/>
                    <a:pt x="764086" y="577589"/>
                  </a:cubicBezTo>
                  <a:cubicBezTo>
                    <a:pt x="748728" y="605849"/>
                    <a:pt x="719142" y="623443"/>
                    <a:pt x="686979" y="623443"/>
                  </a:cubicBezTo>
                  <a:lnTo>
                    <a:pt x="87757" y="623443"/>
                  </a:lnTo>
                  <a:cubicBezTo>
                    <a:pt x="55594" y="623443"/>
                    <a:pt x="26008" y="605849"/>
                    <a:pt x="10650" y="577589"/>
                  </a:cubicBezTo>
                  <a:cubicBezTo>
                    <a:pt x="-4707" y="549330"/>
                    <a:pt x="-3376" y="514933"/>
                    <a:pt x="14121" y="487946"/>
                  </a:cubicBezTo>
                  <a:lnTo>
                    <a:pt x="299521" y="47740"/>
                  </a:lnTo>
                  <a:cubicBezTo>
                    <a:pt x="318822" y="17970"/>
                    <a:pt x="351888" y="0"/>
                    <a:pt x="387368" y="0"/>
                  </a:cubicBezTo>
                  <a:cubicBezTo>
                    <a:pt x="422848" y="0"/>
                    <a:pt x="455914" y="17970"/>
                    <a:pt x="475215" y="47740"/>
                  </a:cubicBezTo>
                  <a:close/>
                </a:path>
              </a:pathLst>
            </a:custGeom>
            <a:solidFill>
              <a:srgbClr val="38AEB6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44092" y="292100"/>
              <a:ext cx="634004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sp>
        <p:nvSpPr>
          <p:cNvPr id="32" name="AutoShape 32"/>
          <p:cNvSpPr/>
          <p:nvPr/>
        </p:nvSpPr>
        <p:spPr>
          <a:xfrm flipV="1">
            <a:off x="12474700" y="3459876"/>
            <a:ext cx="0" cy="1253621"/>
          </a:xfrm>
          <a:prstGeom prst="line">
            <a:avLst/>
          </a:prstGeom>
          <a:ln w="47625" cap="flat">
            <a:solidFill>
              <a:srgbClr val="8D9193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33" name="Group 33"/>
          <p:cNvGrpSpPr/>
          <p:nvPr/>
        </p:nvGrpSpPr>
        <p:grpSpPr>
          <a:xfrm>
            <a:off x="10982716" y="5646587"/>
            <a:ext cx="2983968" cy="1308416"/>
            <a:chOff x="0" y="0"/>
            <a:chExt cx="920767" cy="40374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20767" cy="403740"/>
            </a:xfrm>
            <a:custGeom>
              <a:avLst/>
              <a:gdLst/>
              <a:ahLst/>
              <a:cxnLst/>
              <a:rect l="l" t="t" r="r" b="b"/>
              <a:pathLst>
                <a:path w="920767" h="403740">
                  <a:moveTo>
                    <a:pt x="77835" y="0"/>
                  </a:moveTo>
                  <a:lnTo>
                    <a:pt x="842932" y="0"/>
                  </a:lnTo>
                  <a:cubicBezTo>
                    <a:pt x="863575" y="0"/>
                    <a:pt x="883373" y="8200"/>
                    <a:pt x="897970" y="22797"/>
                  </a:cubicBezTo>
                  <a:cubicBezTo>
                    <a:pt x="912567" y="37394"/>
                    <a:pt x="920767" y="57192"/>
                    <a:pt x="920767" y="77835"/>
                  </a:cubicBezTo>
                  <a:lnTo>
                    <a:pt x="920767" y="325905"/>
                  </a:lnTo>
                  <a:cubicBezTo>
                    <a:pt x="920767" y="346548"/>
                    <a:pt x="912567" y="366346"/>
                    <a:pt x="897970" y="380942"/>
                  </a:cubicBezTo>
                  <a:cubicBezTo>
                    <a:pt x="883373" y="395539"/>
                    <a:pt x="863575" y="403740"/>
                    <a:pt x="842932" y="403740"/>
                  </a:cubicBezTo>
                  <a:lnTo>
                    <a:pt x="77835" y="403740"/>
                  </a:lnTo>
                  <a:cubicBezTo>
                    <a:pt x="57192" y="403740"/>
                    <a:pt x="37394" y="395539"/>
                    <a:pt x="22797" y="380942"/>
                  </a:cubicBezTo>
                  <a:cubicBezTo>
                    <a:pt x="8200" y="366346"/>
                    <a:pt x="0" y="346548"/>
                    <a:pt x="0" y="325905"/>
                  </a:cubicBezTo>
                  <a:lnTo>
                    <a:pt x="0" y="77835"/>
                  </a:lnTo>
                  <a:cubicBezTo>
                    <a:pt x="0" y="57192"/>
                    <a:pt x="8200" y="37394"/>
                    <a:pt x="22797" y="22797"/>
                  </a:cubicBezTo>
                  <a:cubicBezTo>
                    <a:pt x="37394" y="8200"/>
                    <a:pt x="57192" y="0"/>
                    <a:pt x="77835" y="0"/>
                  </a:cubicBezTo>
                  <a:close/>
                </a:path>
              </a:pathLst>
            </a:custGeom>
            <a:solidFill>
              <a:srgbClr val="FFE8A3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920767" cy="4418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987539" y="5154693"/>
            <a:ext cx="974322" cy="974322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A707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013217" y="7336516"/>
            <a:ext cx="2922966" cy="1756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49"/>
              </a:lnSpc>
            </a:pPr>
            <a:r>
              <a:rPr lang="en-US" sz="1899">
                <a:solidFill>
                  <a:srgbClr val="1C1C1A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899" u="none">
                <a:solidFill>
                  <a:srgbClr val="1C1C1A"/>
                </a:solidFill>
                <a:latin typeface="Roboto"/>
                <a:ea typeface="Roboto"/>
                <a:cs typeface="Roboto"/>
                <a:sym typeface="Roboto"/>
              </a:rPr>
              <a:t>mplementation of L1/L2 regularized XGBoost to generalize unseen patterns and improve model robustness is also a factor.</a:t>
            </a:r>
          </a:p>
        </p:txBody>
      </p:sp>
      <p:grpSp>
        <p:nvGrpSpPr>
          <p:cNvPr id="40" name="Group 40"/>
          <p:cNvGrpSpPr/>
          <p:nvPr/>
        </p:nvGrpSpPr>
        <p:grpSpPr>
          <a:xfrm rot="-10800000">
            <a:off x="12234986" y="4580346"/>
            <a:ext cx="479427" cy="369739"/>
            <a:chOff x="0" y="0"/>
            <a:chExt cx="922188" cy="711200"/>
          </a:xfrm>
        </p:grpSpPr>
        <p:sp>
          <p:nvSpPr>
            <p:cNvPr id="41" name="Freeform 41"/>
            <p:cNvSpPr/>
            <p:nvPr/>
          </p:nvSpPr>
          <p:spPr>
            <a:xfrm>
              <a:off x="73726" y="87757"/>
              <a:ext cx="774737" cy="623443"/>
            </a:xfrm>
            <a:custGeom>
              <a:avLst/>
              <a:gdLst/>
              <a:ahLst/>
              <a:cxnLst/>
              <a:rect l="l" t="t" r="r" b="b"/>
              <a:pathLst>
                <a:path w="774737" h="623443">
                  <a:moveTo>
                    <a:pt x="475215" y="47740"/>
                  </a:moveTo>
                  <a:lnTo>
                    <a:pt x="760614" y="487946"/>
                  </a:lnTo>
                  <a:cubicBezTo>
                    <a:pt x="778111" y="514933"/>
                    <a:pt x="779443" y="549330"/>
                    <a:pt x="764086" y="577589"/>
                  </a:cubicBezTo>
                  <a:cubicBezTo>
                    <a:pt x="748728" y="605849"/>
                    <a:pt x="719142" y="623443"/>
                    <a:pt x="686979" y="623443"/>
                  </a:cubicBezTo>
                  <a:lnTo>
                    <a:pt x="87757" y="623443"/>
                  </a:lnTo>
                  <a:cubicBezTo>
                    <a:pt x="55594" y="623443"/>
                    <a:pt x="26008" y="605849"/>
                    <a:pt x="10650" y="577589"/>
                  </a:cubicBezTo>
                  <a:cubicBezTo>
                    <a:pt x="-4707" y="549330"/>
                    <a:pt x="-3376" y="514933"/>
                    <a:pt x="14121" y="487946"/>
                  </a:cubicBezTo>
                  <a:lnTo>
                    <a:pt x="299521" y="47740"/>
                  </a:lnTo>
                  <a:cubicBezTo>
                    <a:pt x="318822" y="17970"/>
                    <a:pt x="351888" y="0"/>
                    <a:pt x="387368" y="0"/>
                  </a:cubicBezTo>
                  <a:cubicBezTo>
                    <a:pt x="422848" y="0"/>
                    <a:pt x="455914" y="17970"/>
                    <a:pt x="475215" y="47740"/>
                  </a:cubicBezTo>
                  <a:close/>
                </a:path>
              </a:pathLst>
            </a:custGeom>
            <a:solidFill>
              <a:srgbClr val="DDA707"/>
            </a:solidFill>
            <a:ln cap="sq">
              <a:noFill/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44092" y="292100"/>
              <a:ext cx="634004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5200476" y="5317184"/>
            <a:ext cx="715375" cy="58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808"/>
              </a:lnSpc>
              <a:spcBef>
                <a:spcPct val="0"/>
              </a:spcBef>
            </a:pPr>
            <a:r>
              <a:rPr lang="en-US" sz="3434" b="1" u="none" strike="noStrike" spc="144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657693" y="5317184"/>
            <a:ext cx="715375" cy="58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808"/>
              </a:lnSpc>
              <a:spcBef>
                <a:spcPct val="0"/>
              </a:spcBef>
            </a:pPr>
            <a:r>
              <a:rPr lang="en-US" sz="3434" b="1" u="none" strike="noStrike" spc="144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985609" y="5317184"/>
            <a:ext cx="976252" cy="58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808"/>
              </a:lnSpc>
              <a:spcBef>
                <a:spcPct val="0"/>
              </a:spcBef>
            </a:pPr>
            <a:r>
              <a:rPr lang="en-US" sz="3434" b="1" u="none" strike="noStrike" spc="144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67594" y="6129938"/>
            <a:ext cx="2581139" cy="707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64"/>
              </a:lnSpc>
              <a:spcBef>
                <a:spcPct val="0"/>
              </a:spcBef>
            </a:pPr>
            <a:r>
              <a:rPr lang="en-US" sz="2045" b="1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Adaptive k-Neighbor SMOTE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702944" y="6129938"/>
            <a:ext cx="2659693" cy="707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64"/>
              </a:lnSpc>
              <a:spcBef>
                <a:spcPct val="0"/>
              </a:spcBef>
            </a:pPr>
            <a:r>
              <a:rPr lang="en-US" sz="2045" b="1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Hybrid Resampling Methodology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914513" y="6129938"/>
            <a:ext cx="3133073" cy="707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64"/>
              </a:lnSpc>
              <a:spcBef>
                <a:spcPct val="0"/>
              </a:spcBef>
            </a:pPr>
            <a:r>
              <a:rPr lang="en-US" sz="2045" b="1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Regularized XGBoost Implementation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4877479" y="477344"/>
            <a:ext cx="8533042" cy="1160088"/>
            <a:chOff x="0" y="0"/>
            <a:chExt cx="2247386" cy="30553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247385" cy="305538"/>
            </a:xfrm>
            <a:custGeom>
              <a:avLst/>
              <a:gdLst/>
              <a:ahLst/>
              <a:cxnLst/>
              <a:rect l="l" t="t" r="r" b="b"/>
              <a:pathLst>
                <a:path w="2247385" h="305538">
                  <a:moveTo>
                    <a:pt x="46272" y="0"/>
                  </a:moveTo>
                  <a:lnTo>
                    <a:pt x="2201114" y="0"/>
                  </a:lnTo>
                  <a:cubicBezTo>
                    <a:pt x="2213386" y="0"/>
                    <a:pt x="2225155" y="4875"/>
                    <a:pt x="2233833" y="13553"/>
                  </a:cubicBezTo>
                  <a:cubicBezTo>
                    <a:pt x="2242510" y="22230"/>
                    <a:pt x="2247385" y="34000"/>
                    <a:pt x="2247385" y="46272"/>
                  </a:cubicBezTo>
                  <a:lnTo>
                    <a:pt x="2247385" y="259266"/>
                  </a:lnTo>
                  <a:cubicBezTo>
                    <a:pt x="2247385" y="271538"/>
                    <a:pt x="2242510" y="283307"/>
                    <a:pt x="2233833" y="291985"/>
                  </a:cubicBezTo>
                  <a:cubicBezTo>
                    <a:pt x="2225155" y="300663"/>
                    <a:pt x="2213386" y="305538"/>
                    <a:pt x="2201114" y="305538"/>
                  </a:cubicBezTo>
                  <a:lnTo>
                    <a:pt x="46272" y="305538"/>
                  </a:lnTo>
                  <a:cubicBezTo>
                    <a:pt x="20717" y="305538"/>
                    <a:pt x="0" y="284821"/>
                    <a:pt x="0" y="259266"/>
                  </a:cubicBezTo>
                  <a:lnTo>
                    <a:pt x="0" y="46272"/>
                  </a:lnTo>
                  <a:cubicBezTo>
                    <a:pt x="0" y="34000"/>
                    <a:pt x="4875" y="22230"/>
                    <a:pt x="13553" y="13553"/>
                  </a:cubicBezTo>
                  <a:cubicBezTo>
                    <a:pt x="22230" y="4875"/>
                    <a:pt x="34000" y="0"/>
                    <a:pt x="46272" y="0"/>
                  </a:cubicBezTo>
                  <a:close/>
                </a:path>
              </a:pathLst>
            </a:custGeom>
            <a:solidFill>
              <a:srgbClr val="E9917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0" y="-47625"/>
              <a:ext cx="2247386" cy="353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5662668" y="628763"/>
            <a:ext cx="6962663" cy="809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SOLUTION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1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36802">
            <a:off x="1104028" y="2159168"/>
            <a:ext cx="2210457" cy="944468"/>
          </a:xfrm>
          <a:custGeom>
            <a:avLst/>
            <a:gdLst/>
            <a:ahLst/>
            <a:cxnLst/>
            <a:rect l="l" t="t" r="r" b="b"/>
            <a:pathLst>
              <a:path w="2210457" h="944468">
                <a:moveTo>
                  <a:pt x="0" y="0"/>
                </a:moveTo>
                <a:lnTo>
                  <a:pt x="2210457" y="0"/>
                </a:lnTo>
                <a:lnTo>
                  <a:pt x="2210457" y="944468"/>
                </a:lnTo>
                <a:lnTo>
                  <a:pt x="0" y="944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4989489">
            <a:off x="-2221695" y="6946932"/>
            <a:ext cx="4052975" cy="4114800"/>
          </a:xfrm>
          <a:custGeom>
            <a:avLst/>
            <a:gdLst/>
            <a:ahLst/>
            <a:cxnLst/>
            <a:rect l="l" t="t" r="r" b="b"/>
            <a:pathLst>
              <a:path w="4052975" h="4114800">
                <a:moveTo>
                  <a:pt x="0" y="0"/>
                </a:moveTo>
                <a:lnTo>
                  <a:pt x="4052975" y="0"/>
                </a:lnTo>
                <a:lnTo>
                  <a:pt x="40529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579560" y="-1014971"/>
            <a:ext cx="4919870" cy="4114800"/>
          </a:xfrm>
          <a:custGeom>
            <a:avLst/>
            <a:gdLst/>
            <a:ahLst/>
            <a:cxnLst/>
            <a:rect l="l" t="t" r="r" b="b"/>
            <a:pathLst>
              <a:path w="4919870" h="4114800">
                <a:moveTo>
                  <a:pt x="0" y="0"/>
                </a:moveTo>
                <a:lnTo>
                  <a:pt x="4919869" y="0"/>
                </a:lnTo>
                <a:lnTo>
                  <a:pt x="49198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4335959" y="1042429"/>
            <a:ext cx="8322398" cy="1160088"/>
            <a:chOff x="0" y="0"/>
            <a:chExt cx="2191907" cy="3055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1907" cy="305538"/>
            </a:xfrm>
            <a:custGeom>
              <a:avLst/>
              <a:gdLst/>
              <a:ahLst/>
              <a:cxnLst/>
              <a:rect l="l" t="t" r="r" b="b"/>
              <a:pathLst>
                <a:path w="2191907" h="305538">
                  <a:moveTo>
                    <a:pt x="47443" y="0"/>
                  </a:moveTo>
                  <a:lnTo>
                    <a:pt x="2144464" y="0"/>
                  </a:lnTo>
                  <a:cubicBezTo>
                    <a:pt x="2170666" y="0"/>
                    <a:pt x="2191907" y="21241"/>
                    <a:pt x="2191907" y="47443"/>
                  </a:cubicBezTo>
                  <a:lnTo>
                    <a:pt x="2191907" y="258095"/>
                  </a:lnTo>
                  <a:cubicBezTo>
                    <a:pt x="2191907" y="284297"/>
                    <a:pt x="2170666" y="305538"/>
                    <a:pt x="2144464" y="305538"/>
                  </a:cubicBezTo>
                  <a:lnTo>
                    <a:pt x="47443" y="305538"/>
                  </a:lnTo>
                  <a:cubicBezTo>
                    <a:pt x="21241" y="305538"/>
                    <a:pt x="0" y="284297"/>
                    <a:pt x="0" y="258095"/>
                  </a:cubicBezTo>
                  <a:lnTo>
                    <a:pt x="0" y="47443"/>
                  </a:lnTo>
                  <a:cubicBezTo>
                    <a:pt x="0" y="21241"/>
                    <a:pt x="21241" y="0"/>
                    <a:pt x="47443" y="0"/>
                  </a:cubicBezTo>
                  <a:close/>
                </a:path>
              </a:pathLst>
            </a:custGeom>
            <a:solidFill>
              <a:srgbClr val="D8CFE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191907" cy="353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7055381">
            <a:off x="15754071" y="8096679"/>
            <a:ext cx="2210457" cy="944468"/>
          </a:xfrm>
          <a:custGeom>
            <a:avLst/>
            <a:gdLst/>
            <a:ahLst/>
            <a:cxnLst/>
            <a:rect l="l" t="t" r="r" b="b"/>
            <a:pathLst>
              <a:path w="2210457" h="944468">
                <a:moveTo>
                  <a:pt x="0" y="0"/>
                </a:moveTo>
                <a:lnTo>
                  <a:pt x="2210458" y="0"/>
                </a:lnTo>
                <a:lnTo>
                  <a:pt x="2210458" y="944468"/>
                </a:lnTo>
                <a:lnTo>
                  <a:pt x="0" y="944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46685" y="3528048"/>
            <a:ext cx="14794629" cy="4532063"/>
          </a:xfrm>
          <a:custGeom>
            <a:avLst/>
            <a:gdLst/>
            <a:ahLst/>
            <a:cxnLst/>
            <a:rect l="l" t="t" r="r" b="b"/>
            <a:pathLst>
              <a:path w="14794629" h="4532063">
                <a:moveTo>
                  <a:pt x="0" y="0"/>
                </a:moveTo>
                <a:lnTo>
                  <a:pt x="14794630" y="0"/>
                </a:lnTo>
                <a:lnTo>
                  <a:pt x="14794630" y="4532063"/>
                </a:lnTo>
                <a:lnTo>
                  <a:pt x="0" y="45320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237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229725" y="3099829"/>
            <a:ext cx="3559184" cy="1980298"/>
          </a:xfrm>
          <a:custGeom>
            <a:avLst/>
            <a:gdLst/>
            <a:ahLst/>
            <a:cxnLst/>
            <a:rect l="l" t="t" r="r" b="b"/>
            <a:pathLst>
              <a:path w="3559184" h="1980298">
                <a:moveTo>
                  <a:pt x="0" y="0"/>
                </a:moveTo>
                <a:lnTo>
                  <a:pt x="3559184" y="0"/>
                </a:lnTo>
                <a:lnTo>
                  <a:pt x="3559184" y="1980298"/>
                </a:lnTo>
                <a:lnTo>
                  <a:pt x="0" y="19802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009317" y="7902215"/>
            <a:ext cx="47625" cy="405105"/>
          </a:xfrm>
          <a:custGeom>
            <a:avLst/>
            <a:gdLst/>
            <a:ahLst/>
            <a:cxnLst/>
            <a:rect l="l" t="t" r="r" b="b"/>
            <a:pathLst>
              <a:path w="47625" h="405105">
                <a:moveTo>
                  <a:pt x="0" y="0"/>
                </a:moveTo>
                <a:lnTo>
                  <a:pt x="47625" y="0"/>
                </a:lnTo>
                <a:lnTo>
                  <a:pt x="47625" y="405105"/>
                </a:lnTo>
                <a:lnTo>
                  <a:pt x="0" y="405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04039" t="-179435" r="-188532" b="-778204"/>
            </a:stretch>
          </a:blipFill>
          <a:ln cap="sq">
            <a:noFill/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>
            <a:off x="4568646" y="1193831"/>
            <a:ext cx="7790483" cy="809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METHODOLOGY</a:t>
            </a:r>
          </a:p>
        </p:txBody>
      </p:sp>
      <p:sp>
        <p:nvSpPr>
          <p:cNvPr id="13" name="Freeform 13"/>
          <p:cNvSpPr/>
          <p:nvPr/>
        </p:nvSpPr>
        <p:spPr>
          <a:xfrm rot="-5400000">
            <a:off x="11996278" y="7320359"/>
            <a:ext cx="47625" cy="1926297"/>
          </a:xfrm>
          <a:custGeom>
            <a:avLst/>
            <a:gdLst/>
            <a:ahLst/>
            <a:cxnLst/>
            <a:rect l="l" t="t" r="r" b="b"/>
            <a:pathLst>
              <a:path w="47625" h="1926297">
                <a:moveTo>
                  <a:pt x="0" y="0"/>
                </a:moveTo>
                <a:lnTo>
                  <a:pt x="47625" y="0"/>
                </a:lnTo>
                <a:lnTo>
                  <a:pt x="47625" y="1926297"/>
                </a:lnTo>
                <a:lnTo>
                  <a:pt x="0" y="19262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04039" t="-37735" r="-188532" b="-84688"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12901393" y="5080127"/>
            <a:ext cx="47625" cy="3196652"/>
          </a:xfrm>
          <a:custGeom>
            <a:avLst/>
            <a:gdLst/>
            <a:ahLst/>
            <a:cxnLst/>
            <a:rect l="l" t="t" r="r" b="b"/>
            <a:pathLst>
              <a:path w="47625" h="3196652">
                <a:moveTo>
                  <a:pt x="0" y="0"/>
                </a:moveTo>
                <a:lnTo>
                  <a:pt x="47625" y="0"/>
                </a:lnTo>
                <a:lnTo>
                  <a:pt x="47625" y="3196652"/>
                </a:lnTo>
                <a:lnTo>
                  <a:pt x="0" y="31966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04039" t="-22739" r="-188532" b="-11293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C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82797" y="1164075"/>
            <a:ext cx="8322398" cy="1160088"/>
            <a:chOff x="0" y="0"/>
            <a:chExt cx="2191907" cy="3055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1907" cy="305538"/>
            </a:xfrm>
            <a:custGeom>
              <a:avLst/>
              <a:gdLst/>
              <a:ahLst/>
              <a:cxnLst/>
              <a:rect l="l" t="t" r="r" b="b"/>
              <a:pathLst>
                <a:path w="2191907" h="305538">
                  <a:moveTo>
                    <a:pt x="47443" y="0"/>
                  </a:moveTo>
                  <a:lnTo>
                    <a:pt x="2144464" y="0"/>
                  </a:lnTo>
                  <a:cubicBezTo>
                    <a:pt x="2170666" y="0"/>
                    <a:pt x="2191907" y="21241"/>
                    <a:pt x="2191907" y="47443"/>
                  </a:cubicBezTo>
                  <a:lnTo>
                    <a:pt x="2191907" y="258095"/>
                  </a:lnTo>
                  <a:cubicBezTo>
                    <a:pt x="2191907" y="284297"/>
                    <a:pt x="2170666" y="305538"/>
                    <a:pt x="2144464" y="305538"/>
                  </a:cubicBezTo>
                  <a:lnTo>
                    <a:pt x="47443" y="305538"/>
                  </a:lnTo>
                  <a:cubicBezTo>
                    <a:pt x="21241" y="305538"/>
                    <a:pt x="0" y="284297"/>
                    <a:pt x="0" y="258095"/>
                  </a:cubicBezTo>
                  <a:lnTo>
                    <a:pt x="0" y="47443"/>
                  </a:lnTo>
                  <a:cubicBezTo>
                    <a:pt x="0" y="21241"/>
                    <a:pt x="21241" y="0"/>
                    <a:pt x="47443" y="0"/>
                  </a:cubicBezTo>
                  <a:close/>
                </a:path>
              </a:pathLst>
            </a:custGeom>
            <a:solidFill>
              <a:srgbClr val="E9917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191907" cy="353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739747" y="3498609"/>
            <a:ext cx="5002664" cy="1992745"/>
            <a:chOff x="0" y="0"/>
            <a:chExt cx="1317574" cy="5248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17574" cy="524838"/>
            </a:xfrm>
            <a:custGeom>
              <a:avLst/>
              <a:gdLst/>
              <a:ahLst/>
              <a:cxnLst/>
              <a:rect l="l" t="t" r="r" b="b"/>
              <a:pathLst>
                <a:path w="1317574" h="524838">
                  <a:moveTo>
                    <a:pt x="0" y="0"/>
                  </a:moveTo>
                  <a:lnTo>
                    <a:pt x="1317574" y="0"/>
                  </a:lnTo>
                  <a:lnTo>
                    <a:pt x="1317574" y="524838"/>
                  </a:lnTo>
                  <a:lnTo>
                    <a:pt x="0" y="524838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317574" cy="572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32111" y="6785869"/>
            <a:ext cx="4910300" cy="1992745"/>
            <a:chOff x="0" y="0"/>
            <a:chExt cx="1293248" cy="5248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93248" cy="524838"/>
            </a:xfrm>
            <a:custGeom>
              <a:avLst/>
              <a:gdLst/>
              <a:ahLst/>
              <a:cxnLst/>
              <a:rect l="l" t="t" r="r" b="b"/>
              <a:pathLst>
                <a:path w="1293248" h="524838">
                  <a:moveTo>
                    <a:pt x="0" y="0"/>
                  </a:moveTo>
                  <a:lnTo>
                    <a:pt x="1293248" y="0"/>
                  </a:lnTo>
                  <a:lnTo>
                    <a:pt x="1293248" y="524838"/>
                  </a:lnTo>
                  <a:lnTo>
                    <a:pt x="0" y="524838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93248" cy="572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717637" y="5323340"/>
            <a:ext cx="5314395" cy="1992745"/>
            <a:chOff x="0" y="0"/>
            <a:chExt cx="1399676" cy="5248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99676" cy="524838"/>
            </a:xfrm>
            <a:custGeom>
              <a:avLst/>
              <a:gdLst/>
              <a:ahLst/>
              <a:cxnLst/>
              <a:rect l="l" t="t" r="r" b="b"/>
              <a:pathLst>
                <a:path w="1399676" h="524838">
                  <a:moveTo>
                    <a:pt x="0" y="0"/>
                  </a:moveTo>
                  <a:lnTo>
                    <a:pt x="1399676" y="0"/>
                  </a:lnTo>
                  <a:lnTo>
                    <a:pt x="1399676" y="524838"/>
                  </a:lnTo>
                  <a:lnTo>
                    <a:pt x="0" y="524838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399676" cy="572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12687" y="2804419"/>
            <a:ext cx="3086100" cy="308610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917E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12687" y="6172200"/>
            <a:ext cx="3086100" cy="308610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917E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89384" y="4629150"/>
            <a:ext cx="3086100" cy="3086100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917E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6291131" y="-1668797"/>
            <a:ext cx="3080104" cy="5665744"/>
          </a:xfrm>
          <a:custGeom>
            <a:avLst/>
            <a:gdLst/>
            <a:ahLst/>
            <a:cxnLst/>
            <a:rect l="l" t="t" r="r" b="b"/>
            <a:pathLst>
              <a:path w="3080104" h="5665744">
                <a:moveTo>
                  <a:pt x="0" y="0"/>
                </a:moveTo>
                <a:lnTo>
                  <a:pt x="3080105" y="0"/>
                </a:lnTo>
                <a:lnTo>
                  <a:pt x="3080105" y="5665744"/>
                </a:lnTo>
                <a:lnTo>
                  <a:pt x="0" y="56657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rot="1293024">
            <a:off x="1553409" y="-1720994"/>
            <a:ext cx="2326732" cy="4114800"/>
          </a:xfrm>
          <a:custGeom>
            <a:avLst/>
            <a:gdLst/>
            <a:ahLst/>
            <a:cxnLst/>
            <a:rect l="l" t="t" r="r" b="b"/>
            <a:pathLst>
              <a:path w="2326732" h="4114800">
                <a:moveTo>
                  <a:pt x="0" y="0"/>
                </a:moveTo>
                <a:lnTo>
                  <a:pt x="2326732" y="0"/>
                </a:lnTo>
                <a:lnTo>
                  <a:pt x="23267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6597955" y="8778614"/>
            <a:ext cx="1322690" cy="1291427"/>
          </a:xfrm>
          <a:custGeom>
            <a:avLst/>
            <a:gdLst/>
            <a:ahLst/>
            <a:cxnLst/>
            <a:rect l="l" t="t" r="r" b="b"/>
            <a:pathLst>
              <a:path w="1322690" h="1291427">
                <a:moveTo>
                  <a:pt x="0" y="0"/>
                </a:moveTo>
                <a:lnTo>
                  <a:pt x="1322690" y="0"/>
                </a:lnTo>
                <a:lnTo>
                  <a:pt x="1322690" y="1291427"/>
                </a:lnTo>
                <a:lnTo>
                  <a:pt x="0" y="12914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-1899100">
            <a:off x="420046" y="821560"/>
            <a:ext cx="2880468" cy="591805"/>
          </a:xfrm>
          <a:custGeom>
            <a:avLst/>
            <a:gdLst/>
            <a:ahLst/>
            <a:cxnLst/>
            <a:rect l="l" t="t" r="r" b="b"/>
            <a:pathLst>
              <a:path w="2880468" h="591805">
                <a:moveTo>
                  <a:pt x="0" y="0"/>
                </a:moveTo>
                <a:lnTo>
                  <a:pt x="2880468" y="0"/>
                </a:lnTo>
                <a:lnTo>
                  <a:pt x="2880468" y="591805"/>
                </a:lnTo>
                <a:lnTo>
                  <a:pt x="0" y="591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6093063" y="1315494"/>
            <a:ext cx="6701865" cy="809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DATA COLLECTION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652120" y="3647567"/>
            <a:ext cx="3270283" cy="425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00" b="1" spc="5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Dataset Overview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666700" y="4143914"/>
            <a:ext cx="4113110" cy="1179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European Credit Card dataset ( 284,807 transactions) as a test dataset.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523134" y="6049464"/>
            <a:ext cx="3968494" cy="788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2" lvl="1" indent="-259081" algn="l">
              <a:lnSpc>
                <a:spcPts val="31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Legitimate 99.827%,</a:t>
            </a:r>
          </a:p>
          <a:p>
            <a:pPr marL="518162" lvl="1" indent="-259081" algn="l">
              <a:lnSpc>
                <a:spcPts val="31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Fraud 0.173%,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652120" y="7532724"/>
            <a:ext cx="3968494" cy="1179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V1–V28 (PCA), Time, Amount, used for training and testing the model.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666700" y="7000285"/>
            <a:ext cx="4113110" cy="425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00" b="1" spc="5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Features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523134" y="5472297"/>
            <a:ext cx="4113110" cy="425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00" b="1" spc="5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Class Distribution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2057952" y="3817575"/>
            <a:ext cx="1795570" cy="1059788"/>
            <a:chOff x="0" y="0"/>
            <a:chExt cx="921211" cy="543720"/>
          </a:xfrm>
        </p:grpSpPr>
        <p:sp>
          <p:nvSpPr>
            <p:cNvPr id="35" name="Freeform 35"/>
            <p:cNvSpPr/>
            <p:nvPr/>
          </p:nvSpPr>
          <p:spPr>
            <a:xfrm>
              <a:off x="25817" y="0"/>
              <a:ext cx="878194" cy="543720"/>
            </a:xfrm>
            <a:custGeom>
              <a:avLst/>
              <a:gdLst/>
              <a:ahLst/>
              <a:cxnLst/>
              <a:rect l="l" t="t" r="r" b="b"/>
              <a:pathLst>
                <a:path w="878194" h="543720">
                  <a:moveTo>
                    <a:pt x="25923" y="0"/>
                  </a:moveTo>
                  <a:lnTo>
                    <a:pt x="640454" y="0"/>
                  </a:lnTo>
                  <a:cubicBezTo>
                    <a:pt x="673018" y="0"/>
                    <a:pt x="703674" y="15360"/>
                    <a:pt x="723170" y="41443"/>
                  </a:cubicBezTo>
                  <a:lnTo>
                    <a:pt x="864418" y="230417"/>
                  </a:lnTo>
                  <a:cubicBezTo>
                    <a:pt x="882786" y="254993"/>
                    <a:pt x="882786" y="288728"/>
                    <a:pt x="864418" y="313303"/>
                  </a:cubicBezTo>
                  <a:lnTo>
                    <a:pt x="723170" y="502278"/>
                  </a:lnTo>
                  <a:cubicBezTo>
                    <a:pt x="703674" y="528361"/>
                    <a:pt x="673018" y="543720"/>
                    <a:pt x="640454" y="543720"/>
                  </a:cubicBezTo>
                  <a:lnTo>
                    <a:pt x="25923" y="543720"/>
                  </a:lnTo>
                  <a:cubicBezTo>
                    <a:pt x="16112" y="543720"/>
                    <a:pt x="7141" y="538181"/>
                    <a:pt x="2746" y="529409"/>
                  </a:cubicBezTo>
                  <a:cubicBezTo>
                    <a:pt x="-1649" y="520638"/>
                    <a:pt x="-715" y="510136"/>
                    <a:pt x="5159" y="502278"/>
                  </a:cubicBezTo>
                  <a:lnTo>
                    <a:pt x="146407" y="313303"/>
                  </a:lnTo>
                  <a:cubicBezTo>
                    <a:pt x="164776" y="288728"/>
                    <a:pt x="164776" y="254993"/>
                    <a:pt x="146407" y="230417"/>
                  </a:cubicBezTo>
                  <a:lnTo>
                    <a:pt x="5159" y="41443"/>
                  </a:lnTo>
                  <a:cubicBezTo>
                    <a:pt x="-715" y="33584"/>
                    <a:pt x="-1649" y="23083"/>
                    <a:pt x="2746" y="14311"/>
                  </a:cubicBezTo>
                  <a:cubicBezTo>
                    <a:pt x="7141" y="5539"/>
                    <a:pt x="16112" y="0"/>
                    <a:pt x="25923" y="0"/>
                  </a:cubicBezTo>
                  <a:close/>
                </a:path>
              </a:pathLst>
            </a:custGeom>
            <a:solidFill>
              <a:srgbClr val="38AEB6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177800" y="-38100"/>
              <a:ext cx="66721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2498642" y="3930945"/>
            <a:ext cx="925026" cy="780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22"/>
              </a:lnSpc>
              <a:spcBef>
                <a:spcPct val="0"/>
              </a:spcBef>
            </a:pPr>
            <a:r>
              <a:rPr lang="en-US" sz="4587" b="1" u="none" strike="noStrike" spc="192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9834650" y="5762709"/>
            <a:ext cx="1795570" cy="1059788"/>
            <a:chOff x="0" y="0"/>
            <a:chExt cx="921211" cy="543720"/>
          </a:xfrm>
        </p:grpSpPr>
        <p:sp>
          <p:nvSpPr>
            <p:cNvPr id="39" name="Freeform 39"/>
            <p:cNvSpPr/>
            <p:nvPr/>
          </p:nvSpPr>
          <p:spPr>
            <a:xfrm>
              <a:off x="25817" y="0"/>
              <a:ext cx="878194" cy="543720"/>
            </a:xfrm>
            <a:custGeom>
              <a:avLst/>
              <a:gdLst/>
              <a:ahLst/>
              <a:cxnLst/>
              <a:rect l="l" t="t" r="r" b="b"/>
              <a:pathLst>
                <a:path w="878194" h="543720">
                  <a:moveTo>
                    <a:pt x="25923" y="0"/>
                  </a:moveTo>
                  <a:lnTo>
                    <a:pt x="640454" y="0"/>
                  </a:lnTo>
                  <a:cubicBezTo>
                    <a:pt x="673018" y="0"/>
                    <a:pt x="703674" y="15360"/>
                    <a:pt x="723170" y="41443"/>
                  </a:cubicBezTo>
                  <a:lnTo>
                    <a:pt x="864418" y="230417"/>
                  </a:lnTo>
                  <a:cubicBezTo>
                    <a:pt x="882786" y="254993"/>
                    <a:pt x="882786" y="288728"/>
                    <a:pt x="864418" y="313303"/>
                  </a:cubicBezTo>
                  <a:lnTo>
                    <a:pt x="723170" y="502278"/>
                  </a:lnTo>
                  <a:cubicBezTo>
                    <a:pt x="703674" y="528361"/>
                    <a:pt x="673018" y="543720"/>
                    <a:pt x="640454" y="543720"/>
                  </a:cubicBezTo>
                  <a:lnTo>
                    <a:pt x="25923" y="543720"/>
                  </a:lnTo>
                  <a:cubicBezTo>
                    <a:pt x="16112" y="543720"/>
                    <a:pt x="7141" y="538181"/>
                    <a:pt x="2746" y="529409"/>
                  </a:cubicBezTo>
                  <a:cubicBezTo>
                    <a:pt x="-1649" y="520638"/>
                    <a:pt x="-715" y="510136"/>
                    <a:pt x="5159" y="502278"/>
                  </a:cubicBezTo>
                  <a:lnTo>
                    <a:pt x="146407" y="313303"/>
                  </a:lnTo>
                  <a:cubicBezTo>
                    <a:pt x="164776" y="288728"/>
                    <a:pt x="164776" y="254993"/>
                    <a:pt x="146407" y="230417"/>
                  </a:cubicBezTo>
                  <a:lnTo>
                    <a:pt x="5159" y="41443"/>
                  </a:lnTo>
                  <a:cubicBezTo>
                    <a:pt x="-715" y="33584"/>
                    <a:pt x="-1649" y="23083"/>
                    <a:pt x="2746" y="14311"/>
                  </a:cubicBezTo>
                  <a:cubicBezTo>
                    <a:pt x="7141" y="5539"/>
                    <a:pt x="16112" y="0"/>
                    <a:pt x="25923" y="0"/>
                  </a:cubicBezTo>
                  <a:close/>
                </a:path>
              </a:pathLst>
            </a:custGeom>
            <a:solidFill>
              <a:srgbClr val="38AEB6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177800" y="-38100"/>
              <a:ext cx="66721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0275339" y="5876078"/>
            <a:ext cx="925026" cy="780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22"/>
              </a:lnSpc>
              <a:spcBef>
                <a:spcPct val="0"/>
              </a:spcBef>
            </a:pPr>
            <a:r>
              <a:rPr lang="en-US" sz="4587" b="1" u="none" strike="noStrike" spc="192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2063370" y="7185356"/>
            <a:ext cx="1795570" cy="1059788"/>
            <a:chOff x="0" y="0"/>
            <a:chExt cx="921211" cy="543720"/>
          </a:xfrm>
        </p:grpSpPr>
        <p:sp>
          <p:nvSpPr>
            <p:cNvPr id="43" name="Freeform 43"/>
            <p:cNvSpPr/>
            <p:nvPr/>
          </p:nvSpPr>
          <p:spPr>
            <a:xfrm>
              <a:off x="25817" y="0"/>
              <a:ext cx="878194" cy="543720"/>
            </a:xfrm>
            <a:custGeom>
              <a:avLst/>
              <a:gdLst/>
              <a:ahLst/>
              <a:cxnLst/>
              <a:rect l="l" t="t" r="r" b="b"/>
              <a:pathLst>
                <a:path w="878194" h="543720">
                  <a:moveTo>
                    <a:pt x="25923" y="0"/>
                  </a:moveTo>
                  <a:lnTo>
                    <a:pt x="640454" y="0"/>
                  </a:lnTo>
                  <a:cubicBezTo>
                    <a:pt x="673018" y="0"/>
                    <a:pt x="703674" y="15360"/>
                    <a:pt x="723170" y="41443"/>
                  </a:cubicBezTo>
                  <a:lnTo>
                    <a:pt x="864418" y="230417"/>
                  </a:lnTo>
                  <a:cubicBezTo>
                    <a:pt x="882786" y="254993"/>
                    <a:pt x="882786" y="288728"/>
                    <a:pt x="864418" y="313303"/>
                  </a:cubicBezTo>
                  <a:lnTo>
                    <a:pt x="723170" y="502278"/>
                  </a:lnTo>
                  <a:cubicBezTo>
                    <a:pt x="703674" y="528361"/>
                    <a:pt x="673018" y="543720"/>
                    <a:pt x="640454" y="543720"/>
                  </a:cubicBezTo>
                  <a:lnTo>
                    <a:pt x="25923" y="543720"/>
                  </a:lnTo>
                  <a:cubicBezTo>
                    <a:pt x="16112" y="543720"/>
                    <a:pt x="7141" y="538181"/>
                    <a:pt x="2746" y="529409"/>
                  </a:cubicBezTo>
                  <a:cubicBezTo>
                    <a:pt x="-1649" y="520638"/>
                    <a:pt x="-715" y="510136"/>
                    <a:pt x="5159" y="502278"/>
                  </a:cubicBezTo>
                  <a:lnTo>
                    <a:pt x="146407" y="313303"/>
                  </a:lnTo>
                  <a:cubicBezTo>
                    <a:pt x="164776" y="288728"/>
                    <a:pt x="164776" y="254993"/>
                    <a:pt x="146407" y="230417"/>
                  </a:cubicBezTo>
                  <a:lnTo>
                    <a:pt x="5159" y="41443"/>
                  </a:lnTo>
                  <a:cubicBezTo>
                    <a:pt x="-715" y="33584"/>
                    <a:pt x="-1649" y="23083"/>
                    <a:pt x="2746" y="14311"/>
                  </a:cubicBezTo>
                  <a:cubicBezTo>
                    <a:pt x="7141" y="5539"/>
                    <a:pt x="16112" y="0"/>
                    <a:pt x="25923" y="0"/>
                  </a:cubicBezTo>
                  <a:close/>
                </a:path>
              </a:pathLst>
            </a:custGeom>
            <a:solidFill>
              <a:srgbClr val="38AEB6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177800" y="-38100"/>
              <a:ext cx="66721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2504060" y="7298726"/>
            <a:ext cx="925026" cy="780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22"/>
              </a:lnSpc>
              <a:spcBef>
                <a:spcPct val="0"/>
              </a:spcBef>
            </a:pPr>
            <a:r>
              <a:rPr lang="en-US" sz="4587" b="1" u="none" strike="noStrike" spc="192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1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264435">
            <a:off x="-1705756" y="8501231"/>
            <a:ext cx="5423884" cy="4506754"/>
          </a:xfrm>
          <a:custGeom>
            <a:avLst/>
            <a:gdLst/>
            <a:ahLst/>
            <a:cxnLst/>
            <a:rect l="l" t="t" r="r" b="b"/>
            <a:pathLst>
              <a:path w="5423884" h="4506754">
                <a:moveTo>
                  <a:pt x="0" y="0"/>
                </a:moveTo>
                <a:lnTo>
                  <a:pt x="5423883" y="0"/>
                </a:lnTo>
                <a:lnTo>
                  <a:pt x="5423883" y="4506754"/>
                </a:lnTo>
                <a:lnTo>
                  <a:pt x="0" y="4506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3405253">
            <a:off x="-2763898" y="-1158774"/>
            <a:ext cx="5210860" cy="3643248"/>
          </a:xfrm>
          <a:custGeom>
            <a:avLst/>
            <a:gdLst/>
            <a:ahLst/>
            <a:cxnLst/>
            <a:rect l="l" t="t" r="r" b="b"/>
            <a:pathLst>
              <a:path w="5210860" h="3643248">
                <a:moveTo>
                  <a:pt x="0" y="0"/>
                </a:moveTo>
                <a:lnTo>
                  <a:pt x="5210860" y="0"/>
                </a:lnTo>
                <a:lnTo>
                  <a:pt x="5210860" y="3643248"/>
                </a:lnTo>
                <a:lnTo>
                  <a:pt x="0" y="36432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940422" y="1127286"/>
            <a:ext cx="8322398" cy="1160088"/>
            <a:chOff x="0" y="0"/>
            <a:chExt cx="2191907" cy="3055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1907" cy="305538"/>
            </a:xfrm>
            <a:custGeom>
              <a:avLst/>
              <a:gdLst/>
              <a:ahLst/>
              <a:cxnLst/>
              <a:rect l="l" t="t" r="r" b="b"/>
              <a:pathLst>
                <a:path w="2191907" h="305538">
                  <a:moveTo>
                    <a:pt x="47443" y="0"/>
                  </a:moveTo>
                  <a:lnTo>
                    <a:pt x="2144464" y="0"/>
                  </a:lnTo>
                  <a:cubicBezTo>
                    <a:pt x="2170666" y="0"/>
                    <a:pt x="2191907" y="21241"/>
                    <a:pt x="2191907" y="47443"/>
                  </a:cubicBezTo>
                  <a:lnTo>
                    <a:pt x="2191907" y="258095"/>
                  </a:lnTo>
                  <a:cubicBezTo>
                    <a:pt x="2191907" y="284297"/>
                    <a:pt x="2170666" y="305538"/>
                    <a:pt x="2144464" y="305538"/>
                  </a:cubicBezTo>
                  <a:lnTo>
                    <a:pt x="47443" y="305538"/>
                  </a:lnTo>
                  <a:cubicBezTo>
                    <a:pt x="21241" y="305538"/>
                    <a:pt x="0" y="284297"/>
                    <a:pt x="0" y="258095"/>
                  </a:cubicBezTo>
                  <a:lnTo>
                    <a:pt x="0" y="47443"/>
                  </a:lnTo>
                  <a:cubicBezTo>
                    <a:pt x="0" y="21241"/>
                    <a:pt x="21241" y="0"/>
                    <a:pt x="47443" y="0"/>
                  </a:cubicBezTo>
                  <a:close/>
                </a:path>
              </a:pathLst>
            </a:custGeom>
            <a:solidFill>
              <a:srgbClr val="D8CFE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191907" cy="353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173109" y="1278688"/>
            <a:ext cx="7790483" cy="809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RESULTS &amp; DISCUSSION</a:t>
            </a:r>
          </a:p>
        </p:txBody>
      </p:sp>
      <p:grpSp>
        <p:nvGrpSpPr>
          <p:cNvPr id="8" name="Group 8"/>
          <p:cNvGrpSpPr/>
          <p:nvPr/>
        </p:nvGrpSpPr>
        <p:grpSpPr>
          <a:xfrm rot="20524724">
            <a:off x="5342345" y="5985810"/>
            <a:ext cx="1766484" cy="470463"/>
            <a:chOff x="18858" y="66625"/>
            <a:chExt cx="2355311" cy="627283"/>
          </a:xfrm>
        </p:grpSpPr>
        <p:sp>
          <p:nvSpPr>
            <p:cNvPr id="9" name="AutoShape 9"/>
            <p:cNvSpPr/>
            <p:nvPr/>
          </p:nvSpPr>
          <p:spPr>
            <a:xfrm>
              <a:off x="18858" y="383698"/>
              <a:ext cx="2285160" cy="0"/>
            </a:xfrm>
            <a:prstGeom prst="line">
              <a:avLst/>
            </a:prstGeom>
            <a:ln w="63500" cap="flat">
              <a:solidFill>
                <a:srgbClr val="8D9193"/>
              </a:solidFill>
              <a:prstDash val="sysDot"/>
              <a:headEnd type="none" w="sm" len="sm"/>
              <a:tailEnd type="triangle" w="lg" len="med"/>
            </a:ln>
          </p:spPr>
        </p:sp>
        <p:grpSp>
          <p:nvGrpSpPr>
            <p:cNvPr id="10" name="Group 10"/>
            <p:cNvGrpSpPr/>
            <p:nvPr/>
          </p:nvGrpSpPr>
          <p:grpSpPr>
            <a:xfrm rot="3079347">
              <a:off x="1849971" y="169710"/>
              <a:ext cx="627283" cy="421113"/>
              <a:chOff x="-147582" y="193403"/>
              <a:chExt cx="925678" cy="621431"/>
            </a:xfrm>
          </p:grpSpPr>
          <p:sp>
            <p:nvSpPr>
              <p:cNvPr id="11" name="Freeform 11"/>
              <p:cNvSpPr/>
              <p:nvPr/>
            </p:nvSpPr>
            <p:spPr>
              <a:xfrm rot="1054733">
                <a:off x="-147582" y="193403"/>
                <a:ext cx="771359" cy="621431"/>
              </a:xfrm>
              <a:custGeom>
                <a:avLst/>
                <a:gdLst/>
                <a:ahLst/>
                <a:cxnLst/>
                <a:rect l="l" t="t" r="r" b="b"/>
                <a:pathLst>
                  <a:path w="771359" h="621432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38AEB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56"/>
                  </a:lnSpc>
                </a:pPr>
                <a:endParaRPr/>
              </a:p>
            </p:txBody>
          </p:sp>
        </p:grpSp>
      </p:grpSp>
      <p:grpSp>
        <p:nvGrpSpPr>
          <p:cNvPr id="13" name="Group 13"/>
          <p:cNvGrpSpPr/>
          <p:nvPr/>
        </p:nvGrpSpPr>
        <p:grpSpPr>
          <a:xfrm>
            <a:off x="5363355" y="4175916"/>
            <a:ext cx="1997935" cy="721083"/>
            <a:chOff x="24262" y="554467"/>
            <a:chExt cx="2663915" cy="961443"/>
          </a:xfrm>
        </p:grpSpPr>
        <p:sp>
          <p:nvSpPr>
            <p:cNvPr id="14" name="AutoShape 14"/>
            <p:cNvSpPr/>
            <p:nvPr/>
          </p:nvSpPr>
          <p:spPr>
            <a:xfrm>
              <a:off x="24262" y="554467"/>
              <a:ext cx="2328011" cy="807862"/>
            </a:xfrm>
            <a:prstGeom prst="line">
              <a:avLst/>
            </a:prstGeom>
            <a:ln w="63500" cap="flat">
              <a:solidFill>
                <a:srgbClr val="8D9193"/>
              </a:solidFill>
              <a:prstDash val="sysDot"/>
              <a:headEnd type="none" w="sm" len="sm"/>
              <a:tailEnd type="triangle" w="lg" len="med"/>
            </a:ln>
          </p:spPr>
        </p:sp>
        <p:grpSp>
          <p:nvGrpSpPr>
            <p:cNvPr id="15" name="Group 15"/>
            <p:cNvGrpSpPr/>
            <p:nvPr/>
          </p:nvGrpSpPr>
          <p:grpSpPr>
            <a:xfrm rot="8100000">
              <a:off x="1910196" y="903148"/>
              <a:ext cx="777981" cy="612762"/>
              <a:chOff x="144092" y="-243848"/>
              <a:chExt cx="1148059" cy="904248"/>
            </a:xfrm>
          </p:grpSpPr>
          <p:sp>
            <p:nvSpPr>
              <p:cNvPr id="16" name="Freeform 16"/>
              <p:cNvSpPr/>
              <p:nvPr/>
            </p:nvSpPr>
            <p:spPr>
              <a:xfrm rot="20033516">
                <a:off x="520792" y="-243848"/>
                <a:ext cx="771359" cy="621433"/>
              </a:xfrm>
              <a:custGeom>
                <a:avLst/>
                <a:gdLst/>
                <a:ahLst/>
                <a:cxnLst/>
                <a:rect l="l" t="t" r="r" b="b"/>
                <a:pathLst>
                  <a:path w="771359" h="621432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E4667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56"/>
                  </a:lnSpc>
                </a:pPr>
                <a:endParaRPr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 rot="752455">
            <a:off x="10867933" y="5907703"/>
            <a:ext cx="1895403" cy="560705"/>
            <a:chOff x="146170" y="111516"/>
            <a:chExt cx="2527204" cy="747607"/>
          </a:xfrm>
        </p:grpSpPr>
        <p:sp>
          <p:nvSpPr>
            <p:cNvPr id="19" name="AutoShape 19"/>
            <p:cNvSpPr/>
            <p:nvPr/>
          </p:nvSpPr>
          <p:spPr>
            <a:xfrm flipH="1" flipV="1">
              <a:off x="351487" y="314065"/>
              <a:ext cx="2321887" cy="545058"/>
            </a:xfrm>
            <a:prstGeom prst="line">
              <a:avLst/>
            </a:prstGeom>
            <a:ln w="63500" cap="flat">
              <a:solidFill>
                <a:srgbClr val="8D9193"/>
              </a:solidFill>
              <a:prstDash val="sysDot"/>
              <a:headEnd type="none" w="sm" len="sm"/>
              <a:tailEnd type="triangle" w="lg" len="med"/>
            </a:ln>
          </p:spPr>
        </p:sp>
        <p:grpSp>
          <p:nvGrpSpPr>
            <p:cNvPr id="20" name="Group 20"/>
            <p:cNvGrpSpPr/>
            <p:nvPr/>
          </p:nvGrpSpPr>
          <p:grpSpPr>
            <a:xfrm rot="-2700000">
              <a:off x="146170" y="111516"/>
              <a:ext cx="572016" cy="439960"/>
              <a:chOff x="144092" y="11155"/>
              <a:chExt cx="844119" cy="649245"/>
            </a:xfrm>
          </p:grpSpPr>
          <p:sp>
            <p:nvSpPr>
              <p:cNvPr id="21" name="Freeform 21"/>
              <p:cNvSpPr/>
              <p:nvPr/>
            </p:nvSpPr>
            <p:spPr>
              <a:xfrm rot="20273742">
                <a:off x="216854" y="11155"/>
                <a:ext cx="771357" cy="621433"/>
              </a:xfrm>
              <a:custGeom>
                <a:avLst/>
                <a:gdLst/>
                <a:ahLst/>
                <a:cxnLst/>
                <a:rect l="l" t="t" r="r" b="b"/>
                <a:pathLst>
                  <a:path w="771359" h="621432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E4667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56"/>
                  </a:lnSpc>
                </a:pPr>
                <a:endParaRPr/>
              </a:p>
            </p:txBody>
          </p:sp>
        </p:grpSp>
      </p:grpSp>
      <p:grpSp>
        <p:nvGrpSpPr>
          <p:cNvPr id="23" name="Group 23"/>
          <p:cNvGrpSpPr/>
          <p:nvPr/>
        </p:nvGrpSpPr>
        <p:grpSpPr>
          <a:xfrm rot="20124342">
            <a:off x="10509621" y="3684015"/>
            <a:ext cx="2007992" cy="1070048"/>
            <a:chOff x="262491" y="277572"/>
            <a:chExt cx="2677323" cy="1426729"/>
          </a:xfrm>
        </p:grpSpPr>
        <p:sp>
          <p:nvSpPr>
            <p:cNvPr id="24" name="AutoShape 24"/>
            <p:cNvSpPr/>
            <p:nvPr/>
          </p:nvSpPr>
          <p:spPr>
            <a:xfrm flipH="1">
              <a:off x="654654" y="1415367"/>
              <a:ext cx="2285160" cy="0"/>
            </a:xfrm>
            <a:prstGeom prst="line">
              <a:avLst/>
            </a:prstGeom>
            <a:ln w="63500" cap="flat">
              <a:solidFill>
                <a:srgbClr val="8D9193"/>
              </a:solidFill>
              <a:prstDash val="sysDot"/>
              <a:headEnd type="none" w="sm" len="sm"/>
              <a:tailEnd type="triangle" w="lg" len="med"/>
            </a:ln>
          </p:spPr>
        </p:sp>
        <p:grpSp>
          <p:nvGrpSpPr>
            <p:cNvPr id="25" name="Group 25"/>
            <p:cNvGrpSpPr/>
            <p:nvPr/>
          </p:nvGrpSpPr>
          <p:grpSpPr>
            <a:xfrm rot="-7720652">
              <a:off x="-117458" y="657521"/>
              <a:ext cx="1426729" cy="666831"/>
              <a:chOff x="-1327316" y="-323637"/>
              <a:chExt cx="2105412" cy="984037"/>
            </a:xfrm>
          </p:grpSpPr>
          <p:sp>
            <p:nvSpPr>
              <p:cNvPr id="26" name="Freeform 26"/>
              <p:cNvSpPr/>
              <p:nvPr/>
            </p:nvSpPr>
            <p:spPr>
              <a:xfrm rot="1489323">
                <a:off x="-1327316" y="-323637"/>
                <a:ext cx="771359" cy="621433"/>
              </a:xfrm>
              <a:custGeom>
                <a:avLst/>
                <a:gdLst/>
                <a:ahLst/>
                <a:cxnLst/>
                <a:rect l="l" t="t" r="r" b="b"/>
                <a:pathLst>
                  <a:path w="771359" h="621432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38AEB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56"/>
                  </a:lnSpc>
                </a:pPr>
                <a:endParaRPr/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>
            <a:off x="4802680" y="3535150"/>
            <a:ext cx="1061561" cy="1061561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6671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137914" y="3535150"/>
            <a:ext cx="1061561" cy="1061561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AEB6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802680" y="5884094"/>
            <a:ext cx="1061561" cy="1061561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AEB6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137914" y="5884094"/>
            <a:ext cx="1061561" cy="1061561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6671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4940422" y="3688112"/>
            <a:ext cx="759319" cy="671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275656" y="3688112"/>
            <a:ext cx="759319" cy="671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85123" y="3327505"/>
            <a:ext cx="3045212" cy="330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Recall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769503" y="3204996"/>
            <a:ext cx="4259294" cy="330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Original F1-score Enhancement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84087" y="3754787"/>
            <a:ext cx="4018593" cy="1259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2200">
                <a:solidFill>
                  <a:srgbClr val="1C1C1A"/>
                </a:solidFill>
                <a:latin typeface="Poppins"/>
                <a:ea typeface="Poppins"/>
                <a:cs typeface="Poppins"/>
                <a:sym typeface="Poppins"/>
              </a:rPr>
              <a:t>Achieved 85.81% on fraud detection, ensuring comprehensive coverage.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759978" y="3764312"/>
            <a:ext cx="4236590" cy="1242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299"/>
              </a:lnSpc>
            </a:pPr>
            <a:r>
              <a:rPr lang="en-US" sz="2199" dirty="0">
                <a:solidFill>
                  <a:srgbClr val="1C1C1A"/>
                </a:solidFill>
                <a:latin typeface="Poppins"/>
                <a:ea typeface="Poppins"/>
                <a:cs typeface="Poppins"/>
                <a:sym typeface="Poppins"/>
              </a:rPr>
              <a:t>Enhanced to 42.47% ↑ (31.87%) indicating a better balance between recall and precision.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940422" y="6037057"/>
            <a:ext cx="759319" cy="671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275656" y="6037057"/>
            <a:ext cx="759319" cy="671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85123" y="5676449"/>
            <a:ext cx="3231758" cy="330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</a:t>
            </a:r>
            <a:r>
              <a:rPr lang="en-US" sz="1999" b="1" u="none" strike="noStrik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recision Improvement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893243" y="5773758"/>
            <a:ext cx="3045212" cy="330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AUC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84087" y="6113257"/>
            <a:ext cx="3725857" cy="1242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9"/>
              </a:lnSpc>
            </a:pPr>
            <a:r>
              <a:rPr lang="en-US" sz="2199" dirty="0">
                <a:solidFill>
                  <a:srgbClr val="1C1C1A"/>
                </a:solidFill>
                <a:latin typeface="Poppins"/>
                <a:ea typeface="Poppins"/>
                <a:cs typeface="Poppins"/>
                <a:sym typeface="Poppins"/>
              </a:rPr>
              <a:t>Improved to 28.22% ↑ (19.57%), reducing false positives significantly.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3792207" y="6210565"/>
            <a:ext cx="4236590" cy="1665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299"/>
              </a:lnSpc>
            </a:pPr>
            <a:r>
              <a:rPr lang="en-US" sz="2199" dirty="0">
                <a:solidFill>
                  <a:srgbClr val="1C1C1A"/>
                </a:solidFill>
                <a:latin typeface="Poppins"/>
                <a:ea typeface="Poppins"/>
                <a:cs typeface="Poppins"/>
                <a:sym typeface="Poppins"/>
              </a:rPr>
              <a:t>AUC of 96.94%, demonstrating high capability to distinguish fraud vs legitimate transactions.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664341" y="4810425"/>
            <a:ext cx="4788954" cy="1139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718"/>
              </a:lnSpc>
            </a:pPr>
            <a:r>
              <a:rPr lang="en-US" sz="8225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Result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C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033217">
            <a:off x="-351761" y="8007045"/>
            <a:ext cx="1798186" cy="1939221"/>
          </a:xfrm>
          <a:custGeom>
            <a:avLst/>
            <a:gdLst/>
            <a:ahLst/>
            <a:cxnLst/>
            <a:rect l="l" t="t" r="r" b="b"/>
            <a:pathLst>
              <a:path w="1798186" h="1939221">
                <a:moveTo>
                  <a:pt x="0" y="0"/>
                </a:moveTo>
                <a:lnTo>
                  <a:pt x="1798187" y="0"/>
                </a:lnTo>
                <a:lnTo>
                  <a:pt x="1798187" y="1939220"/>
                </a:lnTo>
                <a:lnTo>
                  <a:pt x="0" y="1939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77882" y="8414815"/>
            <a:ext cx="2037960" cy="1889745"/>
          </a:xfrm>
          <a:custGeom>
            <a:avLst/>
            <a:gdLst/>
            <a:ahLst/>
            <a:cxnLst/>
            <a:rect l="l" t="t" r="r" b="b"/>
            <a:pathLst>
              <a:path w="2037960" h="1889745">
                <a:moveTo>
                  <a:pt x="0" y="0"/>
                </a:moveTo>
                <a:lnTo>
                  <a:pt x="2037960" y="0"/>
                </a:lnTo>
                <a:lnTo>
                  <a:pt x="2037960" y="1889745"/>
                </a:lnTo>
                <a:lnTo>
                  <a:pt x="0" y="188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508108" y="-2057400"/>
            <a:ext cx="4052975" cy="4114800"/>
          </a:xfrm>
          <a:custGeom>
            <a:avLst/>
            <a:gdLst/>
            <a:ahLst/>
            <a:cxnLst/>
            <a:rect l="l" t="t" r="r" b="b"/>
            <a:pathLst>
              <a:path w="4052975" h="4114800">
                <a:moveTo>
                  <a:pt x="0" y="0"/>
                </a:moveTo>
                <a:lnTo>
                  <a:pt x="4052975" y="0"/>
                </a:lnTo>
                <a:lnTo>
                  <a:pt x="40529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240320" y="-1231735"/>
            <a:ext cx="7683371" cy="6426092"/>
          </a:xfrm>
          <a:custGeom>
            <a:avLst/>
            <a:gdLst/>
            <a:ahLst/>
            <a:cxnLst/>
            <a:rect l="l" t="t" r="r" b="b"/>
            <a:pathLst>
              <a:path w="7683371" h="6426092">
                <a:moveTo>
                  <a:pt x="0" y="0"/>
                </a:moveTo>
                <a:lnTo>
                  <a:pt x="7683371" y="0"/>
                </a:lnTo>
                <a:lnTo>
                  <a:pt x="7683371" y="6426092"/>
                </a:lnTo>
                <a:lnTo>
                  <a:pt x="0" y="64260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5282797" y="1164075"/>
            <a:ext cx="8322398" cy="1160088"/>
            <a:chOff x="0" y="0"/>
            <a:chExt cx="2191907" cy="3055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1907" cy="305538"/>
            </a:xfrm>
            <a:custGeom>
              <a:avLst/>
              <a:gdLst/>
              <a:ahLst/>
              <a:cxnLst/>
              <a:rect l="l" t="t" r="r" b="b"/>
              <a:pathLst>
                <a:path w="2191907" h="305538">
                  <a:moveTo>
                    <a:pt x="47443" y="0"/>
                  </a:moveTo>
                  <a:lnTo>
                    <a:pt x="2144464" y="0"/>
                  </a:lnTo>
                  <a:cubicBezTo>
                    <a:pt x="2170666" y="0"/>
                    <a:pt x="2191907" y="21241"/>
                    <a:pt x="2191907" y="47443"/>
                  </a:cubicBezTo>
                  <a:lnTo>
                    <a:pt x="2191907" y="258095"/>
                  </a:lnTo>
                  <a:cubicBezTo>
                    <a:pt x="2191907" y="284297"/>
                    <a:pt x="2170666" y="305538"/>
                    <a:pt x="2144464" y="305538"/>
                  </a:cubicBezTo>
                  <a:lnTo>
                    <a:pt x="47443" y="305538"/>
                  </a:lnTo>
                  <a:cubicBezTo>
                    <a:pt x="21241" y="305538"/>
                    <a:pt x="0" y="284297"/>
                    <a:pt x="0" y="258095"/>
                  </a:cubicBezTo>
                  <a:lnTo>
                    <a:pt x="0" y="47443"/>
                  </a:lnTo>
                  <a:cubicBezTo>
                    <a:pt x="0" y="21241"/>
                    <a:pt x="21241" y="0"/>
                    <a:pt x="47443" y="0"/>
                  </a:cubicBezTo>
                  <a:close/>
                </a:path>
              </a:pathLst>
            </a:custGeom>
            <a:solidFill>
              <a:srgbClr val="E9917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191907" cy="353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687930" y="1315477"/>
            <a:ext cx="7512132" cy="809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RESULTS &amp; DISCUSSION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8700" y="3543080"/>
            <a:ext cx="1657421" cy="165742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49474" y="0"/>
                  </a:moveTo>
                  <a:lnTo>
                    <a:pt x="663326" y="0"/>
                  </a:lnTo>
                  <a:cubicBezTo>
                    <a:pt x="702969" y="0"/>
                    <a:pt x="740988" y="15748"/>
                    <a:pt x="769020" y="43780"/>
                  </a:cubicBezTo>
                  <a:cubicBezTo>
                    <a:pt x="797052" y="71812"/>
                    <a:pt x="812800" y="109831"/>
                    <a:pt x="812800" y="149474"/>
                  </a:cubicBezTo>
                  <a:lnTo>
                    <a:pt x="812800" y="663326"/>
                  </a:lnTo>
                  <a:cubicBezTo>
                    <a:pt x="812800" y="702969"/>
                    <a:pt x="797052" y="740988"/>
                    <a:pt x="769020" y="769020"/>
                  </a:cubicBezTo>
                  <a:cubicBezTo>
                    <a:pt x="740988" y="797052"/>
                    <a:pt x="702969" y="812800"/>
                    <a:pt x="663326" y="812800"/>
                  </a:cubicBezTo>
                  <a:lnTo>
                    <a:pt x="149474" y="812800"/>
                  </a:lnTo>
                  <a:cubicBezTo>
                    <a:pt x="109831" y="812800"/>
                    <a:pt x="71812" y="797052"/>
                    <a:pt x="43780" y="769020"/>
                  </a:cubicBezTo>
                  <a:cubicBezTo>
                    <a:pt x="15748" y="740988"/>
                    <a:pt x="0" y="702969"/>
                    <a:pt x="0" y="663326"/>
                  </a:cubicBezTo>
                  <a:lnTo>
                    <a:pt x="0" y="149474"/>
                  </a:lnTo>
                  <a:cubicBezTo>
                    <a:pt x="0" y="109831"/>
                    <a:pt x="15748" y="71812"/>
                    <a:pt x="43780" y="43780"/>
                  </a:cubicBezTo>
                  <a:cubicBezTo>
                    <a:pt x="71812" y="15748"/>
                    <a:pt x="109831" y="0"/>
                    <a:pt x="149474" y="0"/>
                  </a:cubicBezTo>
                  <a:close/>
                </a:path>
              </a:pathLst>
            </a:custGeom>
            <a:solidFill>
              <a:srgbClr val="9366E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880110" y="3543080"/>
            <a:ext cx="5660569" cy="1657421"/>
            <a:chOff x="0" y="0"/>
            <a:chExt cx="2775945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775945" cy="812800"/>
            </a:xfrm>
            <a:custGeom>
              <a:avLst/>
              <a:gdLst/>
              <a:ahLst/>
              <a:cxnLst/>
              <a:rect l="l" t="t" r="r" b="b"/>
              <a:pathLst>
                <a:path w="2775945" h="812800">
                  <a:moveTo>
                    <a:pt x="43766" y="0"/>
                  </a:moveTo>
                  <a:lnTo>
                    <a:pt x="2732179" y="0"/>
                  </a:lnTo>
                  <a:cubicBezTo>
                    <a:pt x="2756350" y="0"/>
                    <a:pt x="2775945" y="19595"/>
                    <a:pt x="2775945" y="43766"/>
                  </a:cubicBezTo>
                  <a:lnTo>
                    <a:pt x="2775945" y="769034"/>
                  </a:lnTo>
                  <a:cubicBezTo>
                    <a:pt x="2775945" y="793205"/>
                    <a:pt x="2756350" y="812800"/>
                    <a:pt x="2732179" y="812800"/>
                  </a:cubicBezTo>
                  <a:lnTo>
                    <a:pt x="43766" y="812800"/>
                  </a:lnTo>
                  <a:cubicBezTo>
                    <a:pt x="19595" y="812800"/>
                    <a:pt x="0" y="793205"/>
                    <a:pt x="0" y="769034"/>
                  </a:cubicBezTo>
                  <a:lnTo>
                    <a:pt x="0" y="43766"/>
                  </a:lnTo>
                  <a:cubicBezTo>
                    <a:pt x="0" y="19595"/>
                    <a:pt x="19595" y="0"/>
                    <a:pt x="43766" y="0"/>
                  </a:cubicBezTo>
                  <a:close/>
                </a:path>
              </a:pathLst>
            </a:custGeom>
            <a:solidFill>
              <a:srgbClr val="EAE0FF"/>
            </a:solidFill>
            <a:ln cap="rnd">
              <a:noFill/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2775945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38618" y="5976343"/>
            <a:ext cx="1657421" cy="165742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49474" y="0"/>
                  </a:moveTo>
                  <a:lnTo>
                    <a:pt x="663326" y="0"/>
                  </a:lnTo>
                  <a:cubicBezTo>
                    <a:pt x="702969" y="0"/>
                    <a:pt x="740988" y="15748"/>
                    <a:pt x="769020" y="43780"/>
                  </a:cubicBezTo>
                  <a:cubicBezTo>
                    <a:pt x="797052" y="71812"/>
                    <a:pt x="812800" y="109831"/>
                    <a:pt x="812800" y="149474"/>
                  </a:cubicBezTo>
                  <a:lnTo>
                    <a:pt x="812800" y="663326"/>
                  </a:lnTo>
                  <a:cubicBezTo>
                    <a:pt x="812800" y="702969"/>
                    <a:pt x="797052" y="740988"/>
                    <a:pt x="769020" y="769020"/>
                  </a:cubicBezTo>
                  <a:cubicBezTo>
                    <a:pt x="740988" y="797052"/>
                    <a:pt x="702969" y="812800"/>
                    <a:pt x="663326" y="812800"/>
                  </a:cubicBezTo>
                  <a:lnTo>
                    <a:pt x="149474" y="812800"/>
                  </a:lnTo>
                  <a:cubicBezTo>
                    <a:pt x="109831" y="812800"/>
                    <a:pt x="71812" y="797052"/>
                    <a:pt x="43780" y="769020"/>
                  </a:cubicBezTo>
                  <a:cubicBezTo>
                    <a:pt x="15748" y="740988"/>
                    <a:pt x="0" y="702969"/>
                    <a:pt x="0" y="663326"/>
                  </a:cubicBezTo>
                  <a:lnTo>
                    <a:pt x="0" y="149474"/>
                  </a:lnTo>
                  <a:cubicBezTo>
                    <a:pt x="0" y="109831"/>
                    <a:pt x="15748" y="71812"/>
                    <a:pt x="43780" y="43780"/>
                  </a:cubicBezTo>
                  <a:cubicBezTo>
                    <a:pt x="71812" y="15748"/>
                    <a:pt x="109831" y="0"/>
                    <a:pt x="149474" y="0"/>
                  </a:cubicBezTo>
                  <a:close/>
                </a:path>
              </a:pathLst>
            </a:custGeom>
            <a:solidFill>
              <a:srgbClr val="DDA707"/>
            </a:solidFill>
            <a:ln cap="rnd">
              <a:noFill/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890028" y="5976343"/>
            <a:ext cx="5660569" cy="1657421"/>
            <a:chOff x="0" y="0"/>
            <a:chExt cx="2775945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775945" cy="812800"/>
            </a:xfrm>
            <a:custGeom>
              <a:avLst/>
              <a:gdLst/>
              <a:ahLst/>
              <a:cxnLst/>
              <a:rect l="l" t="t" r="r" b="b"/>
              <a:pathLst>
                <a:path w="2775945" h="812800">
                  <a:moveTo>
                    <a:pt x="43766" y="0"/>
                  </a:moveTo>
                  <a:lnTo>
                    <a:pt x="2732179" y="0"/>
                  </a:lnTo>
                  <a:cubicBezTo>
                    <a:pt x="2756350" y="0"/>
                    <a:pt x="2775945" y="19595"/>
                    <a:pt x="2775945" y="43766"/>
                  </a:cubicBezTo>
                  <a:lnTo>
                    <a:pt x="2775945" y="769034"/>
                  </a:lnTo>
                  <a:cubicBezTo>
                    <a:pt x="2775945" y="793205"/>
                    <a:pt x="2756350" y="812800"/>
                    <a:pt x="2732179" y="812800"/>
                  </a:cubicBezTo>
                  <a:lnTo>
                    <a:pt x="43766" y="812800"/>
                  </a:lnTo>
                  <a:cubicBezTo>
                    <a:pt x="19595" y="812800"/>
                    <a:pt x="0" y="793205"/>
                    <a:pt x="0" y="769034"/>
                  </a:cubicBezTo>
                  <a:lnTo>
                    <a:pt x="0" y="43766"/>
                  </a:lnTo>
                  <a:cubicBezTo>
                    <a:pt x="0" y="19595"/>
                    <a:pt x="19595" y="0"/>
                    <a:pt x="43766" y="0"/>
                  </a:cubicBezTo>
                  <a:close/>
                </a:path>
              </a:pathLst>
            </a:custGeom>
            <a:solidFill>
              <a:srgbClr val="FFE8A3"/>
            </a:solidFill>
            <a:ln cap="rnd">
              <a:noFill/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2775945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165902" y="3543080"/>
            <a:ext cx="1657421" cy="1657421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49474" y="0"/>
                  </a:moveTo>
                  <a:lnTo>
                    <a:pt x="663326" y="0"/>
                  </a:lnTo>
                  <a:cubicBezTo>
                    <a:pt x="702969" y="0"/>
                    <a:pt x="740988" y="15748"/>
                    <a:pt x="769020" y="43780"/>
                  </a:cubicBezTo>
                  <a:cubicBezTo>
                    <a:pt x="797052" y="71812"/>
                    <a:pt x="812800" y="109831"/>
                    <a:pt x="812800" y="149474"/>
                  </a:cubicBezTo>
                  <a:lnTo>
                    <a:pt x="812800" y="663326"/>
                  </a:lnTo>
                  <a:cubicBezTo>
                    <a:pt x="812800" y="702969"/>
                    <a:pt x="797052" y="740988"/>
                    <a:pt x="769020" y="769020"/>
                  </a:cubicBezTo>
                  <a:cubicBezTo>
                    <a:pt x="740988" y="797052"/>
                    <a:pt x="702969" y="812800"/>
                    <a:pt x="663326" y="812800"/>
                  </a:cubicBezTo>
                  <a:lnTo>
                    <a:pt x="149474" y="812800"/>
                  </a:lnTo>
                  <a:cubicBezTo>
                    <a:pt x="109831" y="812800"/>
                    <a:pt x="71812" y="797052"/>
                    <a:pt x="43780" y="769020"/>
                  </a:cubicBezTo>
                  <a:cubicBezTo>
                    <a:pt x="15748" y="740988"/>
                    <a:pt x="0" y="702969"/>
                    <a:pt x="0" y="663326"/>
                  </a:cubicBezTo>
                  <a:lnTo>
                    <a:pt x="0" y="149474"/>
                  </a:lnTo>
                  <a:cubicBezTo>
                    <a:pt x="0" y="109831"/>
                    <a:pt x="15748" y="71812"/>
                    <a:pt x="43780" y="43780"/>
                  </a:cubicBezTo>
                  <a:cubicBezTo>
                    <a:pt x="71812" y="15748"/>
                    <a:pt x="109831" y="0"/>
                    <a:pt x="149474" y="0"/>
                  </a:cubicBezTo>
                  <a:close/>
                </a:path>
              </a:pathLst>
            </a:custGeom>
            <a:solidFill>
              <a:srgbClr val="38AEB6"/>
            </a:solidFill>
            <a:ln cap="rnd">
              <a:noFill/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017313" y="3543080"/>
            <a:ext cx="5660569" cy="1657421"/>
            <a:chOff x="0" y="0"/>
            <a:chExt cx="2775945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775945" cy="812800"/>
            </a:xfrm>
            <a:custGeom>
              <a:avLst/>
              <a:gdLst/>
              <a:ahLst/>
              <a:cxnLst/>
              <a:rect l="l" t="t" r="r" b="b"/>
              <a:pathLst>
                <a:path w="2775945" h="812800">
                  <a:moveTo>
                    <a:pt x="43766" y="0"/>
                  </a:moveTo>
                  <a:lnTo>
                    <a:pt x="2732179" y="0"/>
                  </a:lnTo>
                  <a:cubicBezTo>
                    <a:pt x="2756350" y="0"/>
                    <a:pt x="2775945" y="19595"/>
                    <a:pt x="2775945" y="43766"/>
                  </a:cubicBezTo>
                  <a:lnTo>
                    <a:pt x="2775945" y="769034"/>
                  </a:lnTo>
                  <a:cubicBezTo>
                    <a:pt x="2775945" y="793205"/>
                    <a:pt x="2756350" y="812800"/>
                    <a:pt x="2732179" y="812800"/>
                  </a:cubicBezTo>
                  <a:lnTo>
                    <a:pt x="43766" y="812800"/>
                  </a:lnTo>
                  <a:cubicBezTo>
                    <a:pt x="19595" y="812800"/>
                    <a:pt x="0" y="793205"/>
                    <a:pt x="0" y="769034"/>
                  </a:cubicBezTo>
                  <a:lnTo>
                    <a:pt x="0" y="43766"/>
                  </a:lnTo>
                  <a:cubicBezTo>
                    <a:pt x="0" y="19595"/>
                    <a:pt x="19595" y="0"/>
                    <a:pt x="43766" y="0"/>
                  </a:cubicBezTo>
                  <a:close/>
                </a:path>
              </a:pathLst>
            </a:custGeom>
            <a:solidFill>
              <a:srgbClr val="B5EBEF"/>
            </a:solidFill>
            <a:ln cap="rnd">
              <a:noFill/>
              <a:prstDash val="solid"/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2775945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75820" y="5976343"/>
            <a:ext cx="1657421" cy="1657421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49474" y="0"/>
                  </a:moveTo>
                  <a:lnTo>
                    <a:pt x="663326" y="0"/>
                  </a:lnTo>
                  <a:cubicBezTo>
                    <a:pt x="702969" y="0"/>
                    <a:pt x="740988" y="15748"/>
                    <a:pt x="769020" y="43780"/>
                  </a:cubicBezTo>
                  <a:cubicBezTo>
                    <a:pt x="797052" y="71812"/>
                    <a:pt x="812800" y="109831"/>
                    <a:pt x="812800" y="149474"/>
                  </a:cubicBezTo>
                  <a:lnTo>
                    <a:pt x="812800" y="663326"/>
                  </a:lnTo>
                  <a:cubicBezTo>
                    <a:pt x="812800" y="702969"/>
                    <a:pt x="797052" y="740988"/>
                    <a:pt x="769020" y="769020"/>
                  </a:cubicBezTo>
                  <a:cubicBezTo>
                    <a:pt x="740988" y="797052"/>
                    <a:pt x="702969" y="812800"/>
                    <a:pt x="663326" y="812800"/>
                  </a:cubicBezTo>
                  <a:lnTo>
                    <a:pt x="149474" y="812800"/>
                  </a:lnTo>
                  <a:cubicBezTo>
                    <a:pt x="109831" y="812800"/>
                    <a:pt x="71812" y="797052"/>
                    <a:pt x="43780" y="769020"/>
                  </a:cubicBezTo>
                  <a:cubicBezTo>
                    <a:pt x="15748" y="740988"/>
                    <a:pt x="0" y="702969"/>
                    <a:pt x="0" y="663326"/>
                  </a:cubicBezTo>
                  <a:lnTo>
                    <a:pt x="0" y="149474"/>
                  </a:lnTo>
                  <a:cubicBezTo>
                    <a:pt x="0" y="109831"/>
                    <a:pt x="15748" y="71812"/>
                    <a:pt x="43780" y="43780"/>
                  </a:cubicBezTo>
                  <a:cubicBezTo>
                    <a:pt x="71812" y="15748"/>
                    <a:pt x="109831" y="0"/>
                    <a:pt x="149474" y="0"/>
                  </a:cubicBezTo>
                  <a:close/>
                </a:path>
              </a:pathLst>
            </a:custGeom>
            <a:solidFill>
              <a:srgbClr val="9366E4"/>
            </a:solidFill>
            <a:ln cap="rnd">
              <a:noFill/>
              <a:prstDash val="solid"/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027231" y="5976343"/>
            <a:ext cx="5660569" cy="1657421"/>
            <a:chOff x="0" y="0"/>
            <a:chExt cx="2775945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775945" cy="812800"/>
            </a:xfrm>
            <a:custGeom>
              <a:avLst/>
              <a:gdLst/>
              <a:ahLst/>
              <a:cxnLst/>
              <a:rect l="l" t="t" r="r" b="b"/>
              <a:pathLst>
                <a:path w="2775945" h="812800">
                  <a:moveTo>
                    <a:pt x="43766" y="0"/>
                  </a:moveTo>
                  <a:lnTo>
                    <a:pt x="2732179" y="0"/>
                  </a:lnTo>
                  <a:cubicBezTo>
                    <a:pt x="2756350" y="0"/>
                    <a:pt x="2775945" y="19595"/>
                    <a:pt x="2775945" y="43766"/>
                  </a:cubicBezTo>
                  <a:lnTo>
                    <a:pt x="2775945" y="769034"/>
                  </a:lnTo>
                  <a:cubicBezTo>
                    <a:pt x="2775945" y="793205"/>
                    <a:pt x="2756350" y="812800"/>
                    <a:pt x="2732179" y="812800"/>
                  </a:cubicBezTo>
                  <a:lnTo>
                    <a:pt x="43766" y="812800"/>
                  </a:lnTo>
                  <a:cubicBezTo>
                    <a:pt x="19595" y="812800"/>
                    <a:pt x="0" y="793205"/>
                    <a:pt x="0" y="769034"/>
                  </a:cubicBezTo>
                  <a:lnTo>
                    <a:pt x="0" y="43766"/>
                  </a:lnTo>
                  <a:cubicBezTo>
                    <a:pt x="0" y="19595"/>
                    <a:pt x="19595" y="0"/>
                    <a:pt x="43766" y="0"/>
                  </a:cubicBezTo>
                  <a:close/>
                </a:path>
              </a:pathLst>
            </a:custGeom>
            <a:solidFill>
              <a:srgbClr val="EAE0FF"/>
            </a:solidFill>
            <a:ln cap="rnd">
              <a:noFill/>
              <a:prstDash val="solid"/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2775945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3227338" y="4187951"/>
            <a:ext cx="4985950" cy="763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</a:pPr>
            <a:r>
              <a:rPr lang="en-US" sz="21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10,000 daily transactions example to illustrate real-world impact.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28149" y="4187951"/>
            <a:ext cx="5301716" cy="763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79"/>
              </a:lnSpc>
            </a:pPr>
            <a:r>
              <a:rPr lang="en-US" sz="2199" spc="-87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Reduced analyst fatigue, faster response, cost savings from fewer false alarms.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124200" y="6621215"/>
            <a:ext cx="5564873" cy="763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</a:pPr>
            <a:r>
              <a:rPr lang="en-US" sz="2199" spc="-160" dirty="0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Reduction in false alarms compared to baseline paper, which is a key improvement.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376167" y="6621215"/>
            <a:ext cx="4985950" cy="763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</a:pPr>
            <a:r>
              <a:rPr lang="en-US" sz="2199" spc="-10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Framework preserves 85.81% recall, ensuring customer protection is intact.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95134" y="4003497"/>
            <a:ext cx="724554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u="none" strike="noStrike" spc="167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477991" y="4003497"/>
            <a:ext cx="1033244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u="none" strike="noStrike" spc="167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58193" y="6391118"/>
            <a:ext cx="998435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u="none" strike="noStrike" spc="167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87909" y="6391118"/>
            <a:ext cx="1033244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u="none" strike="noStrike" spc="167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05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227338" y="3698998"/>
            <a:ext cx="4798475" cy="412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Daily Transaction Analysis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376167" y="3698998"/>
            <a:ext cx="4798475" cy="412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Benefits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227338" y="6132262"/>
            <a:ext cx="4798475" cy="412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Reduction in False Alarms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76167" y="6132262"/>
            <a:ext cx="4798475" cy="412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Recall Maintenance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1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264435">
            <a:off x="-1705756" y="8501231"/>
            <a:ext cx="5423884" cy="4506754"/>
          </a:xfrm>
          <a:custGeom>
            <a:avLst/>
            <a:gdLst/>
            <a:ahLst/>
            <a:cxnLst/>
            <a:rect l="l" t="t" r="r" b="b"/>
            <a:pathLst>
              <a:path w="5423884" h="4506754">
                <a:moveTo>
                  <a:pt x="0" y="0"/>
                </a:moveTo>
                <a:lnTo>
                  <a:pt x="5423883" y="0"/>
                </a:lnTo>
                <a:lnTo>
                  <a:pt x="5423883" y="4506754"/>
                </a:lnTo>
                <a:lnTo>
                  <a:pt x="0" y="4506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3405253">
            <a:off x="-2763898" y="-1158774"/>
            <a:ext cx="5210860" cy="3643248"/>
          </a:xfrm>
          <a:custGeom>
            <a:avLst/>
            <a:gdLst/>
            <a:ahLst/>
            <a:cxnLst/>
            <a:rect l="l" t="t" r="r" b="b"/>
            <a:pathLst>
              <a:path w="5210860" h="3643248">
                <a:moveTo>
                  <a:pt x="0" y="0"/>
                </a:moveTo>
                <a:lnTo>
                  <a:pt x="5210860" y="0"/>
                </a:lnTo>
                <a:lnTo>
                  <a:pt x="5210860" y="3643248"/>
                </a:lnTo>
                <a:lnTo>
                  <a:pt x="0" y="36432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940422" y="1127286"/>
            <a:ext cx="8322398" cy="1160088"/>
            <a:chOff x="0" y="0"/>
            <a:chExt cx="2191907" cy="3055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1907" cy="305538"/>
            </a:xfrm>
            <a:custGeom>
              <a:avLst/>
              <a:gdLst/>
              <a:ahLst/>
              <a:cxnLst/>
              <a:rect l="l" t="t" r="r" b="b"/>
              <a:pathLst>
                <a:path w="2191907" h="305538">
                  <a:moveTo>
                    <a:pt x="47443" y="0"/>
                  </a:moveTo>
                  <a:lnTo>
                    <a:pt x="2144464" y="0"/>
                  </a:lnTo>
                  <a:cubicBezTo>
                    <a:pt x="2170666" y="0"/>
                    <a:pt x="2191907" y="21241"/>
                    <a:pt x="2191907" y="47443"/>
                  </a:cubicBezTo>
                  <a:lnTo>
                    <a:pt x="2191907" y="258095"/>
                  </a:lnTo>
                  <a:cubicBezTo>
                    <a:pt x="2191907" y="284297"/>
                    <a:pt x="2170666" y="305538"/>
                    <a:pt x="2144464" y="305538"/>
                  </a:cubicBezTo>
                  <a:lnTo>
                    <a:pt x="47443" y="305538"/>
                  </a:lnTo>
                  <a:cubicBezTo>
                    <a:pt x="21241" y="305538"/>
                    <a:pt x="0" y="284297"/>
                    <a:pt x="0" y="258095"/>
                  </a:cubicBezTo>
                  <a:lnTo>
                    <a:pt x="0" y="47443"/>
                  </a:lnTo>
                  <a:cubicBezTo>
                    <a:pt x="0" y="21241"/>
                    <a:pt x="21241" y="0"/>
                    <a:pt x="47443" y="0"/>
                  </a:cubicBezTo>
                  <a:close/>
                </a:path>
              </a:pathLst>
            </a:custGeom>
            <a:solidFill>
              <a:srgbClr val="D8CFE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191907" cy="353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1721834" y="5258619"/>
            <a:ext cx="21580370" cy="2275748"/>
          </a:xfrm>
          <a:custGeom>
            <a:avLst/>
            <a:gdLst/>
            <a:ahLst/>
            <a:cxnLst/>
            <a:rect l="l" t="t" r="r" b="b"/>
            <a:pathLst>
              <a:path w="21580370" h="2275748">
                <a:moveTo>
                  <a:pt x="0" y="0"/>
                </a:moveTo>
                <a:lnTo>
                  <a:pt x="21580369" y="0"/>
                </a:lnTo>
                <a:lnTo>
                  <a:pt x="21580369" y="2275748"/>
                </a:lnTo>
                <a:lnTo>
                  <a:pt x="0" y="22757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 rot="-10800000">
            <a:off x="7940890" y="6459110"/>
            <a:ext cx="2339679" cy="3473667"/>
            <a:chOff x="0" y="0"/>
            <a:chExt cx="1015833" cy="15081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15833" cy="1508184"/>
            </a:xfrm>
            <a:custGeom>
              <a:avLst/>
              <a:gdLst/>
              <a:ahLst/>
              <a:cxnLst/>
              <a:rect l="l" t="t" r="r" b="b"/>
              <a:pathLst>
                <a:path w="1015833" h="1508184">
                  <a:moveTo>
                    <a:pt x="330897" y="0"/>
                  </a:moveTo>
                  <a:lnTo>
                    <a:pt x="684936" y="0"/>
                  </a:lnTo>
                  <a:cubicBezTo>
                    <a:pt x="867685" y="0"/>
                    <a:pt x="1015833" y="148148"/>
                    <a:pt x="1015833" y="330897"/>
                  </a:cubicBezTo>
                  <a:lnTo>
                    <a:pt x="1015833" y="1177287"/>
                  </a:lnTo>
                  <a:cubicBezTo>
                    <a:pt x="1015833" y="1360036"/>
                    <a:pt x="867685" y="1508184"/>
                    <a:pt x="684936" y="1508184"/>
                  </a:cubicBezTo>
                  <a:lnTo>
                    <a:pt x="330897" y="1508184"/>
                  </a:lnTo>
                  <a:cubicBezTo>
                    <a:pt x="148148" y="1508184"/>
                    <a:pt x="0" y="1360036"/>
                    <a:pt x="0" y="1177287"/>
                  </a:cubicBezTo>
                  <a:lnTo>
                    <a:pt x="0" y="330897"/>
                  </a:lnTo>
                  <a:cubicBezTo>
                    <a:pt x="0" y="148148"/>
                    <a:pt x="148148" y="0"/>
                    <a:pt x="330897" y="0"/>
                  </a:cubicBezTo>
                  <a:close/>
                </a:path>
              </a:pathLst>
            </a:custGeom>
            <a:solidFill>
              <a:srgbClr val="FFE8A3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015833" cy="1536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5264003" y="2957946"/>
            <a:ext cx="2339679" cy="3473667"/>
            <a:chOff x="0" y="0"/>
            <a:chExt cx="1015833" cy="150818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15833" cy="1508184"/>
            </a:xfrm>
            <a:custGeom>
              <a:avLst/>
              <a:gdLst/>
              <a:ahLst/>
              <a:cxnLst/>
              <a:rect l="l" t="t" r="r" b="b"/>
              <a:pathLst>
                <a:path w="1015833" h="1508184">
                  <a:moveTo>
                    <a:pt x="330897" y="0"/>
                  </a:moveTo>
                  <a:lnTo>
                    <a:pt x="684936" y="0"/>
                  </a:lnTo>
                  <a:cubicBezTo>
                    <a:pt x="867685" y="0"/>
                    <a:pt x="1015833" y="148148"/>
                    <a:pt x="1015833" y="330897"/>
                  </a:cubicBezTo>
                  <a:lnTo>
                    <a:pt x="1015833" y="1177287"/>
                  </a:lnTo>
                  <a:cubicBezTo>
                    <a:pt x="1015833" y="1360036"/>
                    <a:pt x="867685" y="1508184"/>
                    <a:pt x="684936" y="1508184"/>
                  </a:cubicBezTo>
                  <a:lnTo>
                    <a:pt x="330897" y="1508184"/>
                  </a:lnTo>
                  <a:cubicBezTo>
                    <a:pt x="148148" y="1508184"/>
                    <a:pt x="0" y="1360036"/>
                    <a:pt x="0" y="1177287"/>
                  </a:cubicBezTo>
                  <a:lnTo>
                    <a:pt x="0" y="330897"/>
                  </a:lnTo>
                  <a:cubicBezTo>
                    <a:pt x="0" y="148148"/>
                    <a:pt x="148148" y="0"/>
                    <a:pt x="330897" y="0"/>
                  </a:cubicBezTo>
                  <a:close/>
                </a:path>
              </a:pathLst>
            </a:custGeom>
            <a:solidFill>
              <a:srgbClr val="FFBBE6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015833" cy="1536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5400000">
            <a:off x="6353276" y="7453801"/>
            <a:ext cx="161132" cy="16113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8C66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5069" tIns="25069" rIns="25069" bIns="25069" rtlCol="0" anchor="ctr"/>
            <a:lstStyle/>
            <a:p>
              <a:pPr algn="ctr">
                <a:lnSpc>
                  <a:spcPts val="967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5400000">
            <a:off x="11661468" y="7453801"/>
            <a:ext cx="161132" cy="16113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5CD4D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5069" tIns="25069" rIns="25069" bIns="25069" rtlCol="0" anchor="ctr"/>
            <a:lstStyle/>
            <a:p>
              <a:pPr algn="ctr">
                <a:lnSpc>
                  <a:spcPts val="967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-5400000">
            <a:off x="9030163" y="5232770"/>
            <a:ext cx="161132" cy="16113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C657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5069" tIns="25069" rIns="25069" bIns="25069" rtlCol="0" anchor="ctr"/>
            <a:lstStyle/>
            <a:p>
              <a:pPr algn="ctr">
                <a:lnSpc>
                  <a:spcPts val="967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-5400000">
            <a:off x="8719882" y="6068262"/>
            <a:ext cx="781696" cy="781696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C657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5069" tIns="25069" rIns="25069" bIns="25069" rtlCol="0" anchor="ctr"/>
            <a:lstStyle/>
            <a:p>
              <a:pPr algn="ctr">
                <a:lnSpc>
                  <a:spcPts val="967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 rot="-5400000">
            <a:off x="6042994" y="6068262"/>
            <a:ext cx="781696" cy="781696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66B5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5069" tIns="25069" rIns="25069" bIns="25069" rtlCol="0" anchor="ctr"/>
            <a:lstStyle/>
            <a:p>
              <a:pPr algn="ctr">
                <a:lnSpc>
                  <a:spcPts val="967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 rot="-10800000">
            <a:off x="10572194" y="2957946"/>
            <a:ext cx="2339679" cy="3473667"/>
            <a:chOff x="0" y="0"/>
            <a:chExt cx="1015833" cy="150818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15833" cy="1508184"/>
            </a:xfrm>
            <a:custGeom>
              <a:avLst/>
              <a:gdLst/>
              <a:ahLst/>
              <a:cxnLst/>
              <a:rect l="l" t="t" r="r" b="b"/>
              <a:pathLst>
                <a:path w="1015833" h="1508184">
                  <a:moveTo>
                    <a:pt x="330897" y="0"/>
                  </a:moveTo>
                  <a:lnTo>
                    <a:pt x="684936" y="0"/>
                  </a:lnTo>
                  <a:cubicBezTo>
                    <a:pt x="867685" y="0"/>
                    <a:pt x="1015833" y="148148"/>
                    <a:pt x="1015833" y="330897"/>
                  </a:cubicBezTo>
                  <a:lnTo>
                    <a:pt x="1015833" y="1177287"/>
                  </a:lnTo>
                  <a:cubicBezTo>
                    <a:pt x="1015833" y="1360036"/>
                    <a:pt x="867685" y="1508184"/>
                    <a:pt x="684936" y="1508184"/>
                  </a:cubicBezTo>
                  <a:lnTo>
                    <a:pt x="330897" y="1508184"/>
                  </a:lnTo>
                  <a:cubicBezTo>
                    <a:pt x="148148" y="1508184"/>
                    <a:pt x="0" y="1360036"/>
                    <a:pt x="0" y="1177287"/>
                  </a:cubicBezTo>
                  <a:lnTo>
                    <a:pt x="0" y="330897"/>
                  </a:lnTo>
                  <a:cubicBezTo>
                    <a:pt x="0" y="148148"/>
                    <a:pt x="148148" y="0"/>
                    <a:pt x="330897" y="0"/>
                  </a:cubicBezTo>
                  <a:close/>
                </a:path>
              </a:pathLst>
            </a:custGeom>
            <a:solidFill>
              <a:srgbClr val="C7D5FD"/>
            </a:solidFill>
            <a:ln cap="rnd">
              <a:noFill/>
              <a:prstDash val="solid"/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1015833" cy="1536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 rot="-5400000">
            <a:off x="11351186" y="6068262"/>
            <a:ext cx="781696" cy="781696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86E4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5069" tIns="25069" rIns="25069" bIns="25069" rtlCol="0" anchor="ctr"/>
            <a:lstStyle/>
            <a:p>
              <a:pPr algn="ctr">
                <a:lnSpc>
                  <a:spcPts val="967"/>
                </a:lnSpc>
              </a:pPr>
              <a:endParaRPr/>
            </a:p>
          </p:txBody>
        </p:sp>
      </p:grpSp>
      <p:sp>
        <p:nvSpPr>
          <p:cNvPr id="35" name="AutoShape 35"/>
          <p:cNvSpPr/>
          <p:nvPr/>
        </p:nvSpPr>
        <p:spPr>
          <a:xfrm flipV="1">
            <a:off x="6433842" y="6836587"/>
            <a:ext cx="0" cy="732899"/>
          </a:xfrm>
          <a:prstGeom prst="line">
            <a:avLst/>
          </a:prstGeom>
          <a:ln w="38100" cap="flat">
            <a:solidFill>
              <a:srgbClr val="E48C6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AutoShape 36"/>
          <p:cNvSpPr/>
          <p:nvPr/>
        </p:nvSpPr>
        <p:spPr>
          <a:xfrm flipV="1">
            <a:off x="11742034" y="6836587"/>
            <a:ext cx="0" cy="732899"/>
          </a:xfrm>
          <a:prstGeom prst="line">
            <a:avLst/>
          </a:prstGeom>
          <a:ln w="38100" cap="flat">
            <a:solidFill>
              <a:srgbClr val="95CD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AutoShape 37"/>
          <p:cNvSpPr/>
          <p:nvPr/>
        </p:nvSpPr>
        <p:spPr>
          <a:xfrm flipV="1">
            <a:off x="9110729" y="5293738"/>
            <a:ext cx="0" cy="774524"/>
          </a:xfrm>
          <a:prstGeom prst="line">
            <a:avLst/>
          </a:prstGeom>
          <a:ln w="38100" cap="flat">
            <a:solidFill>
              <a:srgbClr val="F6C14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Freeform 38"/>
          <p:cNvSpPr/>
          <p:nvPr/>
        </p:nvSpPr>
        <p:spPr>
          <a:xfrm rot="5400000">
            <a:off x="6175719" y="4927162"/>
            <a:ext cx="516246" cy="146668"/>
          </a:xfrm>
          <a:custGeom>
            <a:avLst/>
            <a:gdLst/>
            <a:ahLst/>
            <a:cxnLst/>
            <a:rect l="l" t="t" r="r" b="b"/>
            <a:pathLst>
              <a:path w="516246" h="146668">
                <a:moveTo>
                  <a:pt x="0" y="0"/>
                </a:moveTo>
                <a:lnTo>
                  <a:pt x="516246" y="0"/>
                </a:lnTo>
                <a:lnTo>
                  <a:pt x="516246" y="146668"/>
                </a:lnTo>
                <a:lnTo>
                  <a:pt x="0" y="1466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5173109" y="1278688"/>
            <a:ext cx="7790483" cy="809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i="1" dirty="0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WHY IT WORKS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830997" y="6193487"/>
            <a:ext cx="559465" cy="476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0"/>
              </a:lnSpc>
            </a:pPr>
            <a:r>
              <a:rPr lang="en-US" sz="3141" b="1" spc="15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154109" y="6193487"/>
            <a:ext cx="559465" cy="476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0"/>
              </a:lnSpc>
            </a:pPr>
            <a:r>
              <a:rPr lang="en-US" sz="3141" b="1" spc="15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193437" y="7548258"/>
            <a:ext cx="1900595" cy="1506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53"/>
              </a:lnSpc>
            </a:pPr>
            <a:r>
              <a:rPr lang="en-US" sz="149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Balanced sampling</a:t>
            </a:r>
          </a:p>
          <a:p>
            <a:pPr marL="0" lvl="0" indent="0" algn="ctr">
              <a:lnSpc>
                <a:spcPts val="2453"/>
              </a:lnSpc>
            </a:pPr>
            <a:endParaRPr lang="en-US" sz="1495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>
              <a:lnSpc>
                <a:spcPts val="2453"/>
              </a:lnSpc>
            </a:pPr>
            <a:endParaRPr lang="en-US" sz="1495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>
              <a:lnSpc>
                <a:spcPts val="2453"/>
              </a:lnSpc>
            </a:pPr>
            <a:r>
              <a:rPr lang="en-US" sz="149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prevents overfitting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516550" y="4047093"/>
            <a:ext cx="1834584" cy="1811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0"/>
              </a:lnSpc>
            </a:pPr>
            <a:r>
              <a:rPr lang="en-US" sz="1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Conservative k=3 synthesis </a:t>
            </a:r>
          </a:p>
          <a:p>
            <a:pPr marL="0" lvl="0" indent="0" algn="ctr">
              <a:lnSpc>
                <a:spcPts val="2460"/>
              </a:lnSpc>
            </a:pPr>
            <a:endParaRPr lang="en-US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>
              <a:lnSpc>
                <a:spcPts val="2460"/>
              </a:lnSpc>
            </a:pPr>
            <a:endParaRPr lang="en-US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>
              <a:lnSpc>
                <a:spcPts val="2460"/>
              </a:lnSpc>
            </a:pPr>
            <a:r>
              <a:rPr lang="en-US" sz="1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samples closer to real fraud patterns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268984" y="6869008"/>
            <a:ext cx="1683490" cy="562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96"/>
              </a:lnSpc>
            </a:pPr>
            <a:r>
              <a:rPr lang="en-US" sz="179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Balanced Sampling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592097" y="3331944"/>
            <a:ext cx="1683490" cy="562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96"/>
              </a:lnSpc>
            </a:pPr>
            <a:r>
              <a:rPr lang="en-US" sz="179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Conservative Synthesis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462301" y="6193487"/>
            <a:ext cx="559465" cy="476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0"/>
              </a:lnSpc>
            </a:pPr>
            <a:r>
              <a:rPr lang="en-US" sz="3141" b="1" spc="15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824742" y="4047093"/>
            <a:ext cx="1834584" cy="1506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53"/>
              </a:lnSpc>
            </a:pPr>
            <a:r>
              <a:rPr lang="en-US" sz="149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L1/L2 regularization</a:t>
            </a:r>
          </a:p>
          <a:p>
            <a:pPr marL="0" lvl="0" indent="0" algn="ctr">
              <a:lnSpc>
                <a:spcPts val="2453"/>
              </a:lnSpc>
            </a:pPr>
            <a:endParaRPr lang="en-US" sz="1495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>
              <a:lnSpc>
                <a:spcPts val="2453"/>
              </a:lnSpc>
            </a:pPr>
            <a:endParaRPr lang="en-US" sz="1495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>
              <a:lnSpc>
                <a:spcPts val="2453"/>
              </a:lnSpc>
            </a:pPr>
            <a:r>
              <a:rPr lang="en-US" sz="149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generalizes to unseen patterns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900288" y="3331944"/>
            <a:ext cx="1759037" cy="562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96"/>
              </a:lnSpc>
            </a:pPr>
            <a:r>
              <a:rPr lang="en-US" sz="179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Regularization Effectiveness</a:t>
            </a:r>
          </a:p>
        </p:txBody>
      </p:sp>
      <p:sp>
        <p:nvSpPr>
          <p:cNvPr id="49" name="Freeform 49"/>
          <p:cNvSpPr/>
          <p:nvPr/>
        </p:nvSpPr>
        <p:spPr>
          <a:xfrm rot="5400000">
            <a:off x="11417368" y="4985897"/>
            <a:ext cx="595546" cy="169198"/>
          </a:xfrm>
          <a:custGeom>
            <a:avLst/>
            <a:gdLst/>
            <a:ahLst/>
            <a:cxnLst/>
            <a:rect l="l" t="t" r="r" b="b"/>
            <a:pathLst>
              <a:path w="595546" h="169198">
                <a:moveTo>
                  <a:pt x="0" y="0"/>
                </a:moveTo>
                <a:lnTo>
                  <a:pt x="595545" y="0"/>
                </a:lnTo>
                <a:lnTo>
                  <a:pt x="595545" y="169197"/>
                </a:lnTo>
                <a:lnTo>
                  <a:pt x="0" y="1691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 rot="5400000">
            <a:off x="8826912" y="8111345"/>
            <a:ext cx="595546" cy="169198"/>
          </a:xfrm>
          <a:custGeom>
            <a:avLst/>
            <a:gdLst/>
            <a:ahLst/>
            <a:cxnLst/>
            <a:rect l="l" t="t" r="r" b="b"/>
            <a:pathLst>
              <a:path w="595546" h="169198">
                <a:moveTo>
                  <a:pt x="0" y="0"/>
                </a:moveTo>
                <a:lnTo>
                  <a:pt x="595546" y="0"/>
                </a:lnTo>
                <a:lnTo>
                  <a:pt x="595546" y="169197"/>
                </a:lnTo>
                <a:lnTo>
                  <a:pt x="0" y="1691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C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033217">
            <a:off x="-333722" y="8390078"/>
            <a:ext cx="1798186" cy="1939221"/>
          </a:xfrm>
          <a:custGeom>
            <a:avLst/>
            <a:gdLst/>
            <a:ahLst/>
            <a:cxnLst/>
            <a:rect l="l" t="t" r="r" b="b"/>
            <a:pathLst>
              <a:path w="1798186" h="1939221">
                <a:moveTo>
                  <a:pt x="0" y="0"/>
                </a:moveTo>
                <a:lnTo>
                  <a:pt x="1798187" y="0"/>
                </a:lnTo>
                <a:lnTo>
                  <a:pt x="1798187" y="1939220"/>
                </a:lnTo>
                <a:lnTo>
                  <a:pt x="0" y="1939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6677882" y="8414815"/>
            <a:ext cx="2037960" cy="1889745"/>
          </a:xfrm>
          <a:custGeom>
            <a:avLst/>
            <a:gdLst/>
            <a:ahLst/>
            <a:cxnLst/>
            <a:rect l="l" t="t" r="r" b="b"/>
            <a:pathLst>
              <a:path w="2037960" h="1889745">
                <a:moveTo>
                  <a:pt x="0" y="0"/>
                </a:moveTo>
                <a:lnTo>
                  <a:pt x="2037960" y="0"/>
                </a:lnTo>
                <a:lnTo>
                  <a:pt x="2037960" y="1889745"/>
                </a:lnTo>
                <a:lnTo>
                  <a:pt x="0" y="188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508108" y="-2057400"/>
            <a:ext cx="4052975" cy="4114800"/>
          </a:xfrm>
          <a:custGeom>
            <a:avLst/>
            <a:gdLst/>
            <a:ahLst/>
            <a:cxnLst/>
            <a:rect l="l" t="t" r="r" b="b"/>
            <a:pathLst>
              <a:path w="4052975" h="4114800">
                <a:moveTo>
                  <a:pt x="0" y="0"/>
                </a:moveTo>
                <a:lnTo>
                  <a:pt x="4052975" y="0"/>
                </a:lnTo>
                <a:lnTo>
                  <a:pt x="40529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240320" y="-1231735"/>
            <a:ext cx="7683371" cy="6426092"/>
          </a:xfrm>
          <a:custGeom>
            <a:avLst/>
            <a:gdLst/>
            <a:ahLst/>
            <a:cxnLst/>
            <a:rect l="l" t="t" r="r" b="b"/>
            <a:pathLst>
              <a:path w="7683371" h="6426092">
                <a:moveTo>
                  <a:pt x="0" y="0"/>
                </a:moveTo>
                <a:lnTo>
                  <a:pt x="7683371" y="0"/>
                </a:lnTo>
                <a:lnTo>
                  <a:pt x="7683371" y="6426092"/>
                </a:lnTo>
                <a:lnTo>
                  <a:pt x="0" y="64260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557246" y="1164075"/>
            <a:ext cx="9811686" cy="1160088"/>
            <a:chOff x="0" y="0"/>
            <a:chExt cx="2584148" cy="3055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84148" cy="305538"/>
            </a:xfrm>
            <a:custGeom>
              <a:avLst/>
              <a:gdLst/>
              <a:ahLst/>
              <a:cxnLst/>
              <a:rect l="l" t="t" r="r" b="b"/>
              <a:pathLst>
                <a:path w="2584148" h="305538">
                  <a:moveTo>
                    <a:pt x="40242" y="0"/>
                  </a:moveTo>
                  <a:lnTo>
                    <a:pt x="2543906" y="0"/>
                  </a:lnTo>
                  <a:cubicBezTo>
                    <a:pt x="2554579" y="0"/>
                    <a:pt x="2564814" y="4240"/>
                    <a:pt x="2572361" y="11786"/>
                  </a:cubicBezTo>
                  <a:cubicBezTo>
                    <a:pt x="2579908" y="19333"/>
                    <a:pt x="2584148" y="29569"/>
                    <a:pt x="2584148" y="40242"/>
                  </a:cubicBezTo>
                  <a:lnTo>
                    <a:pt x="2584148" y="265296"/>
                  </a:lnTo>
                  <a:cubicBezTo>
                    <a:pt x="2584148" y="275969"/>
                    <a:pt x="2579908" y="286204"/>
                    <a:pt x="2572361" y="293751"/>
                  </a:cubicBezTo>
                  <a:cubicBezTo>
                    <a:pt x="2564814" y="301298"/>
                    <a:pt x="2554579" y="305538"/>
                    <a:pt x="2543906" y="305538"/>
                  </a:cubicBezTo>
                  <a:lnTo>
                    <a:pt x="40242" y="305538"/>
                  </a:lnTo>
                  <a:cubicBezTo>
                    <a:pt x="29569" y="305538"/>
                    <a:pt x="19333" y="301298"/>
                    <a:pt x="11786" y="293751"/>
                  </a:cubicBezTo>
                  <a:cubicBezTo>
                    <a:pt x="4240" y="286204"/>
                    <a:pt x="0" y="275969"/>
                    <a:pt x="0" y="265296"/>
                  </a:cubicBezTo>
                  <a:lnTo>
                    <a:pt x="0" y="40242"/>
                  </a:lnTo>
                  <a:cubicBezTo>
                    <a:pt x="0" y="29569"/>
                    <a:pt x="4240" y="19333"/>
                    <a:pt x="11786" y="11786"/>
                  </a:cubicBezTo>
                  <a:cubicBezTo>
                    <a:pt x="19333" y="4240"/>
                    <a:pt x="29569" y="0"/>
                    <a:pt x="40242" y="0"/>
                  </a:cubicBezTo>
                  <a:close/>
                </a:path>
              </a:pathLst>
            </a:custGeom>
            <a:solidFill>
              <a:srgbClr val="E9917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584148" cy="353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8198383" y="3536322"/>
            <a:ext cx="1936639" cy="1676073"/>
          </a:xfrm>
          <a:custGeom>
            <a:avLst/>
            <a:gdLst/>
            <a:ahLst/>
            <a:cxnLst/>
            <a:rect l="l" t="t" r="r" b="b"/>
            <a:pathLst>
              <a:path w="1936639" h="1676073">
                <a:moveTo>
                  <a:pt x="0" y="0"/>
                </a:moveTo>
                <a:lnTo>
                  <a:pt x="1936638" y="0"/>
                </a:lnTo>
                <a:lnTo>
                  <a:pt x="1936638" y="1676073"/>
                </a:lnTo>
                <a:lnTo>
                  <a:pt x="0" y="16760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922315" y="1315477"/>
            <a:ext cx="9131187" cy="809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LIMITATIONS</a:t>
            </a:r>
          </a:p>
        </p:txBody>
      </p:sp>
      <p:sp>
        <p:nvSpPr>
          <p:cNvPr id="11" name="Freeform 11"/>
          <p:cNvSpPr/>
          <p:nvPr/>
        </p:nvSpPr>
        <p:spPr>
          <a:xfrm>
            <a:off x="9166702" y="5212395"/>
            <a:ext cx="1936639" cy="1676073"/>
          </a:xfrm>
          <a:custGeom>
            <a:avLst/>
            <a:gdLst/>
            <a:ahLst/>
            <a:cxnLst/>
            <a:rect l="l" t="t" r="r" b="b"/>
            <a:pathLst>
              <a:path w="1936639" h="1676073">
                <a:moveTo>
                  <a:pt x="0" y="0"/>
                </a:moveTo>
                <a:lnTo>
                  <a:pt x="1936639" y="0"/>
                </a:lnTo>
                <a:lnTo>
                  <a:pt x="1936639" y="1676073"/>
                </a:lnTo>
                <a:lnTo>
                  <a:pt x="0" y="16760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230063" y="5212395"/>
            <a:ext cx="1936639" cy="1676073"/>
          </a:xfrm>
          <a:custGeom>
            <a:avLst/>
            <a:gdLst/>
            <a:ahLst/>
            <a:cxnLst/>
            <a:rect l="l" t="t" r="r" b="b"/>
            <a:pathLst>
              <a:path w="1936639" h="1676073">
                <a:moveTo>
                  <a:pt x="0" y="0"/>
                </a:moveTo>
                <a:lnTo>
                  <a:pt x="1936639" y="0"/>
                </a:lnTo>
                <a:lnTo>
                  <a:pt x="1936639" y="1676073"/>
                </a:lnTo>
                <a:lnTo>
                  <a:pt x="0" y="16760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 rot="-5400000">
            <a:off x="9744174" y="5830160"/>
            <a:ext cx="781696" cy="78169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E2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5069" tIns="25069" rIns="25069" bIns="25069" rtlCol="0" anchor="ctr"/>
            <a:lstStyle/>
            <a:p>
              <a:pPr algn="ctr">
                <a:lnSpc>
                  <a:spcPts val="967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855289" y="5982901"/>
            <a:ext cx="559465" cy="476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0"/>
              </a:lnSpc>
            </a:pPr>
            <a:r>
              <a:rPr lang="en-US" sz="3141" b="1" spc="15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grpSp>
        <p:nvGrpSpPr>
          <p:cNvPr id="17" name="Group 17"/>
          <p:cNvGrpSpPr/>
          <p:nvPr/>
        </p:nvGrpSpPr>
        <p:grpSpPr>
          <a:xfrm rot="-5400000">
            <a:off x="7807535" y="5859076"/>
            <a:ext cx="781696" cy="78169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0E2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5069" tIns="25069" rIns="25069" bIns="25069" rtlCol="0" anchor="ctr"/>
            <a:lstStyle/>
            <a:p>
              <a:pPr algn="ctr">
                <a:lnSpc>
                  <a:spcPts val="967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918650" y="6011818"/>
            <a:ext cx="559465" cy="476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0"/>
              </a:lnSpc>
            </a:pPr>
            <a:r>
              <a:rPr lang="en-US" sz="3141" b="1" spc="15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grpSp>
        <p:nvGrpSpPr>
          <p:cNvPr id="21" name="Group 21"/>
          <p:cNvGrpSpPr/>
          <p:nvPr/>
        </p:nvGrpSpPr>
        <p:grpSpPr>
          <a:xfrm rot="-5400000">
            <a:off x="8756804" y="4231484"/>
            <a:ext cx="781696" cy="781696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7D5FD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5069" tIns="25069" rIns="25069" bIns="25069" rtlCol="0" anchor="ctr"/>
            <a:lstStyle/>
            <a:p>
              <a:pPr algn="ctr">
                <a:lnSpc>
                  <a:spcPts val="967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8867920" y="4384225"/>
            <a:ext cx="559465" cy="476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0"/>
              </a:lnSpc>
            </a:pPr>
            <a:r>
              <a:rPr lang="en-US" sz="3141" b="1" spc="15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153170" y="3292405"/>
            <a:ext cx="3045212" cy="330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Dataset Specificity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85368" y="3719153"/>
            <a:ext cx="5902912" cy="840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300"/>
              </a:lnSpc>
            </a:pPr>
            <a:r>
              <a:rPr lang="en-US" sz="2200">
                <a:solidFill>
                  <a:srgbClr val="1C1C1A"/>
                </a:solidFill>
                <a:latin typeface="Poppins"/>
                <a:ea typeface="Poppins"/>
                <a:cs typeface="Poppins"/>
                <a:sym typeface="Poppins"/>
              </a:rPr>
              <a:t>Dataset specificity may affect generalization to other datasets.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62518" y="5830501"/>
            <a:ext cx="3045212" cy="330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Precision Ceiling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61482" y="6257783"/>
            <a:ext cx="5098292" cy="840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2200">
                <a:solidFill>
                  <a:srgbClr val="1C1C1A"/>
                </a:solidFill>
                <a:latin typeface="Poppins"/>
                <a:ea typeface="Poppins"/>
                <a:cs typeface="Poppins"/>
                <a:sym typeface="Poppins"/>
              </a:rPr>
              <a:t>Precision ceiling indicates potential for further improvement.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624172" y="6314933"/>
            <a:ext cx="3045212" cy="330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Static Evaluation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27775" y="6711197"/>
            <a:ext cx="6387988" cy="840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300"/>
              </a:lnSpc>
            </a:pPr>
            <a:r>
              <a:rPr lang="en-US" sz="2200">
                <a:solidFill>
                  <a:srgbClr val="1C1C1A"/>
                </a:solidFill>
                <a:latin typeface="Poppins"/>
                <a:ea typeface="Poppins"/>
                <a:cs typeface="Poppins"/>
                <a:sym typeface="Poppins"/>
              </a:rPr>
              <a:t>Static evaluation may not fully capture concept drift, for better real-time usefulness.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1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264435">
            <a:off x="-1705756" y="8501231"/>
            <a:ext cx="5423884" cy="4506754"/>
          </a:xfrm>
          <a:custGeom>
            <a:avLst/>
            <a:gdLst/>
            <a:ahLst/>
            <a:cxnLst/>
            <a:rect l="l" t="t" r="r" b="b"/>
            <a:pathLst>
              <a:path w="5423884" h="4506754">
                <a:moveTo>
                  <a:pt x="0" y="0"/>
                </a:moveTo>
                <a:lnTo>
                  <a:pt x="5423883" y="0"/>
                </a:lnTo>
                <a:lnTo>
                  <a:pt x="5423883" y="4506754"/>
                </a:lnTo>
                <a:lnTo>
                  <a:pt x="0" y="4506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3405253">
            <a:off x="-2763898" y="-1158774"/>
            <a:ext cx="5210860" cy="3643248"/>
          </a:xfrm>
          <a:custGeom>
            <a:avLst/>
            <a:gdLst/>
            <a:ahLst/>
            <a:cxnLst/>
            <a:rect l="l" t="t" r="r" b="b"/>
            <a:pathLst>
              <a:path w="5210860" h="3643248">
                <a:moveTo>
                  <a:pt x="0" y="0"/>
                </a:moveTo>
                <a:lnTo>
                  <a:pt x="5210860" y="0"/>
                </a:lnTo>
                <a:lnTo>
                  <a:pt x="5210860" y="3643248"/>
                </a:lnTo>
                <a:lnTo>
                  <a:pt x="0" y="36432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982801" y="1028700"/>
            <a:ext cx="8322398" cy="1160088"/>
            <a:chOff x="0" y="0"/>
            <a:chExt cx="2191907" cy="3055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1907" cy="305538"/>
            </a:xfrm>
            <a:custGeom>
              <a:avLst/>
              <a:gdLst/>
              <a:ahLst/>
              <a:cxnLst/>
              <a:rect l="l" t="t" r="r" b="b"/>
              <a:pathLst>
                <a:path w="2191907" h="305538">
                  <a:moveTo>
                    <a:pt x="47443" y="0"/>
                  </a:moveTo>
                  <a:lnTo>
                    <a:pt x="2144464" y="0"/>
                  </a:lnTo>
                  <a:cubicBezTo>
                    <a:pt x="2170666" y="0"/>
                    <a:pt x="2191907" y="21241"/>
                    <a:pt x="2191907" y="47443"/>
                  </a:cubicBezTo>
                  <a:lnTo>
                    <a:pt x="2191907" y="258095"/>
                  </a:lnTo>
                  <a:cubicBezTo>
                    <a:pt x="2191907" y="284297"/>
                    <a:pt x="2170666" y="305538"/>
                    <a:pt x="2144464" y="305538"/>
                  </a:cubicBezTo>
                  <a:lnTo>
                    <a:pt x="47443" y="305538"/>
                  </a:lnTo>
                  <a:cubicBezTo>
                    <a:pt x="21241" y="305538"/>
                    <a:pt x="0" y="284297"/>
                    <a:pt x="0" y="258095"/>
                  </a:cubicBezTo>
                  <a:lnTo>
                    <a:pt x="0" y="47443"/>
                  </a:lnTo>
                  <a:cubicBezTo>
                    <a:pt x="0" y="21241"/>
                    <a:pt x="21241" y="0"/>
                    <a:pt x="47443" y="0"/>
                  </a:cubicBezTo>
                  <a:close/>
                </a:path>
              </a:pathLst>
            </a:custGeom>
            <a:solidFill>
              <a:srgbClr val="D8CFE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191907" cy="353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215488" y="1180102"/>
            <a:ext cx="7790483" cy="809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FUTURE WORK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349781" y="2738669"/>
            <a:ext cx="1657421" cy="165742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49474" y="0"/>
                  </a:moveTo>
                  <a:lnTo>
                    <a:pt x="663326" y="0"/>
                  </a:lnTo>
                  <a:cubicBezTo>
                    <a:pt x="702969" y="0"/>
                    <a:pt x="740988" y="15748"/>
                    <a:pt x="769020" y="43780"/>
                  </a:cubicBezTo>
                  <a:cubicBezTo>
                    <a:pt x="797052" y="71812"/>
                    <a:pt x="812800" y="109831"/>
                    <a:pt x="812800" y="149474"/>
                  </a:cubicBezTo>
                  <a:lnTo>
                    <a:pt x="812800" y="663326"/>
                  </a:lnTo>
                  <a:cubicBezTo>
                    <a:pt x="812800" y="702969"/>
                    <a:pt x="797052" y="740988"/>
                    <a:pt x="769020" y="769020"/>
                  </a:cubicBezTo>
                  <a:cubicBezTo>
                    <a:pt x="740988" y="797052"/>
                    <a:pt x="702969" y="812800"/>
                    <a:pt x="663326" y="812800"/>
                  </a:cubicBezTo>
                  <a:lnTo>
                    <a:pt x="149474" y="812800"/>
                  </a:lnTo>
                  <a:cubicBezTo>
                    <a:pt x="109831" y="812800"/>
                    <a:pt x="71812" y="797052"/>
                    <a:pt x="43780" y="769020"/>
                  </a:cubicBezTo>
                  <a:cubicBezTo>
                    <a:pt x="15748" y="740988"/>
                    <a:pt x="0" y="702969"/>
                    <a:pt x="0" y="663326"/>
                  </a:cubicBezTo>
                  <a:lnTo>
                    <a:pt x="0" y="149474"/>
                  </a:lnTo>
                  <a:cubicBezTo>
                    <a:pt x="0" y="109831"/>
                    <a:pt x="15748" y="71812"/>
                    <a:pt x="43780" y="43780"/>
                  </a:cubicBezTo>
                  <a:cubicBezTo>
                    <a:pt x="71812" y="15748"/>
                    <a:pt x="109831" y="0"/>
                    <a:pt x="149474" y="0"/>
                  </a:cubicBezTo>
                  <a:close/>
                </a:path>
              </a:pathLst>
            </a:custGeom>
            <a:solidFill>
              <a:srgbClr val="9366E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201191" y="2738669"/>
            <a:ext cx="5660569" cy="1657421"/>
            <a:chOff x="0" y="0"/>
            <a:chExt cx="2775945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775945" cy="812800"/>
            </a:xfrm>
            <a:custGeom>
              <a:avLst/>
              <a:gdLst/>
              <a:ahLst/>
              <a:cxnLst/>
              <a:rect l="l" t="t" r="r" b="b"/>
              <a:pathLst>
                <a:path w="2775945" h="812800">
                  <a:moveTo>
                    <a:pt x="43766" y="0"/>
                  </a:moveTo>
                  <a:lnTo>
                    <a:pt x="2732179" y="0"/>
                  </a:lnTo>
                  <a:cubicBezTo>
                    <a:pt x="2756350" y="0"/>
                    <a:pt x="2775945" y="19595"/>
                    <a:pt x="2775945" y="43766"/>
                  </a:cubicBezTo>
                  <a:lnTo>
                    <a:pt x="2775945" y="769034"/>
                  </a:lnTo>
                  <a:cubicBezTo>
                    <a:pt x="2775945" y="793205"/>
                    <a:pt x="2756350" y="812800"/>
                    <a:pt x="2732179" y="812800"/>
                  </a:cubicBezTo>
                  <a:lnTo>
                    <a:pt x="43766" y="812800"/>
                  </a:lnTo>
                  <a:cubicBezTo>
                    <a:pt x="19595" y="812800"/>
                    <a:pt x="0" y="793205"/>
                    <a:pt x="0" y="769034"/>
                  </a:cubicBezTo>
                  <a:lnTo>
                    <a:pt x="0" y="43766"/>
                  </a:lnTo>
                  <a:cubicBezTo>
                    <a:pt x="0" y="19595"/>
                    <a:pt x="19595" y="0"/>
                    <a:pt x="43766" y="0"/>
                  </a:cubicBezTo>
                  <a:close/>
                </a:path>
              </a:pathLst>
            </a:custGeom>
            <a:solidFill>
              <a:srgbClr val="EAE0FF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775945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59698" y="5171932"/>
            <a:ext cx="1657421" cy="165742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49474" y="0"/>
                  </a:moveTo>
                  <a:lnTo>
                    <a:pt x="663326" y="0"/>
                  </a:lnTo>
                  <a:cubicBezTo>
                    <a:pt x="702969" y="0"/>
                    <a:pt x="740988" y="15748"/>
                    <a:pt x="769020" y="43780"/>
                  </a:cubicBezTo>
                  <a:cubicBezTo>
                    <a:pt x="797052" y="71812"/>
                    <a:pt x="812800" y="109831"/>
                    <a:pt x="812800" y="149474"/>
                  </a:cubicBezTo>
                  <a:lnTo>
                    <a:pt x="812800" y="663326"/>
                  </a:lnTo>
                  <a:cubicBezTo>
                    <a:pt x="812800" y="702969"/>
                    <a:pt x="797052" y="740988"/>
                    <a:pt x="769020" y="769020"/>
                  </a:cubicBezTo>
                  <a:cubicBezTo>
                    <a:pt x="740988" y="797052"/>
                    <a:pt x="702969" y="812800"/>
                    <a:pt x="663326" y="812800"/>
                  </a:cubicBezTo>
                  <a:lnTo>
                    <a:pt x="149474" y="812800"/>
                  </a:lnTo>
                  <a:cubicBezTo>
                    <a:pt x="109831" y="812800"/>
                    <a:pt x="71812" y="797052"/>
                    <a:pt x="43780" y="769020"/>
                  </a:cubicBezTo>
                  <a:cubicBezTo>
                    <a:pt x="15748" y="740988"/>
                    <a:pt x="0" y="702969"/>
                    <a:pt x="0" y="663326"/>
                  </a:cubicBezTo>
                  <a:lnTo>
                    <a:pt x="0" y="149474"/>
                  </a:lnTo>
                  <a:cubicBezTo>
                    <a:pt x="0" y="109831"/>
                    <a:pt x="15748" y="71812"/>
                    <a:pt x="43780" y="43780"/>
                  </a:cubicBezTo>
                  <a:cubicBezTo>
                    <a:pt x="71812" y="15748"/>
                    <a:pt x="109831" y="0"/>
                    <a:pt x="149474" y="0"/>
                  </a:cubicBezTo>
                  <a:close/>
                </a:path>
              </a:pathLst>
            </a:custGeom>
            <a:solidFill>
              <a:srgbClr val="DDA707"/>
            </a:solidFill>
            <a:ln cap="rnd">
              <a:noFill/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59698" y="7600879"/>
            <a:ext cx="1657421" cy="1657421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49474" y="0"/>
                  </a:moveTo>
                  <a:lnTo>
                    <a:pt x="663326" y="0"/>
                  </a:lnTo>
                  <a:cubicBezTo>
                    <a:pt x="702969" y="0"/>
                    <a:pt x="740988" y="15748"/>
                    <a:pt x="769020" y="43780"/>
                  </a:cubicBezTo>
                  <a:cubicBezTo>
                    <a:pt x="797052" y="71812"/>
                    <a:pt x="812800" y="109831"/>
                    <a:pt x="812800" y="149474"/>
                  </a:cubicBezTo>
                  <a:lnTo>
                    <a:pt x="812800" y="663326"/>
                  </a:lnTo>
                  <a:cubicBezTo>
                    <a:pt x="812800" y="702969"/>
                    <a:pt x="797052" y="740988"/>
                    <a:pt x="769020" y="769020"/>
                  </a:cubicBezTo>
                  <a:cubicBezTo>
                    <a:pt x="740988" y="797052"/>
                    <a:pt x="702969" y="812800"/>
                    <a:pt x="663326" y="812800"/>
                  </a:cubicBezTo>
                  <a:lnTo>
                    <a:pt x="149474" y="812800"/>
                  </a:lnTo>
                  <a:cubicBezTo>
                    <a:pt x="109831" y="812800"/>
                    <a:pt x="71812" y="797052"/>
                    <a:pt x="43780" y="769020"/>
                  </a:cubicBezTo>
                  <a:cubicBezTo>
                    <a:pt x="15748" y="740988"/>
                    <a:pt x="0" y="702969"/>
                    <a:pt x="0" y="663326"/>
                  </a:cubicBezTo>
                  <a:lnTo>
                    <a:pt x="0" y="149474"/>
                  </a:lnTo>
                  <a:cubicBezTo>
                    <a:pt x="0" y="109831"/>
                    <a:pt x="15748" y="71812"/>
                    <a:pt x="43780" y="43780"/>
                  </a:cubicBezTo>
                  <a:cubicBezTo>
                    <a:pt x="71812" y="15748"/>
                    <a:pt x="109831" y="0"/>
                    <a:pt x="149474" y="0"/>
                  </a:cubicBezTo>
                  <a:close/>
                </a:path>
              </a:pathLst>
            </a:custGeom>
            <a:solidFill>
              <a:srgbClr val="38AEB6"/>
            </a:solidFill>
            <a:ln cap="rnd">
              <a:noFill/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211109" y="5171932"/>
            <a:ext cx="5660569" cy="1657421"/>
            <a:chOff x="0" y="0"/>
            <a:chExt cx="2775945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775945" cy="812800"/>
            </a:xfrm>
            <a:custGeom>
              <a:avLst/>
              <a:gdLst/>
              <a:ahLst/>
              <a:cxnLst/>
              <a:rect l="l" t="t" r="r" b="b"/>
              <a:pathLst>
                <a:path w="2775945" h="812800">
                  <a:moveTo>
                    <a:pt x="43766" y="0"/>
                  </a:moveTo>
                  <a:lnTo>
                    <a:pt x="2732179" y="0"/>
                  </a:lnTo>
                  <a:cubicBezTo>
                    <a:pt x="2756350" y="0"/>
                    <a:pt x="2775945" y="19595"/>
                    <a:pt x="2775945" y="43766"/>
                  </a:cubicBezTo>
                  <a:lnTo>
                    <a:pt x="2775945" y="769034"/>
                  </a:lnTo>
                  <a:cubicBezTo>
                    <a:pt x="2775945" y="793205"/>
                    <a:pt x="2756350" y="812800"/>
                    <a:pt x="2732179" y="812800"/>
                  </a:cubicBezTo>
                  <a:lnTo>
                    <a:pt x="43766" y="812800"/>
                  </a:lnTo>
                  <a:cubicBezTo>
                    <a:pt x="19595" y="812800"/>
                    <a:pt x="0" y="793205"/>
                    <a:pt x="0" y="769034"/>
                  </a:cubicBezTo>
                  <a:lnTo>
                    <a:pt x="0" y="43766"/>
                  </a:lnTo>
                  <a:cubicBezTo>
                    <a:pt x="0" y="19595"/>
                    <a:pt x="19595" y="0"/>
                    <a:pt x="43766" y="0"/>
                  </a:cubicBezTo>
                  <a:close/>
                </a:path>
              </a:pathLst>
            </a:custGeom>
            <a:solidFill>
              <a:srgbClr val="FFE8A3"/>
            </a:solidFill>
            <a:ln cap="rnd">
              <a:noFill/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2775945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211109" y="7600879"/>
            <a:ext cx="5660569" cy="1657421"/>
            <a:chOff x="0" y="0"/>
            <a:chExt cx="2775945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775945" cy="812800"/>
            </a:xfrm>
            <a:custGeom>
              <a:avLst/>
              <a:gdLst/>
              <a:ahLst/>
              <a:cxnLst/>
              <a:rect l="l" t="t" r="r" b="b"/>
              <a:pathLst>
                <a:path w="2775945" h="812800">
                  <a:moveTo>
                    <a:pt x="43766" y="0"/>
                  </a:moveTo>
                  <a:lnTo>
                    <a:pt x="2732179" y="0"/>
                  </a:lnTo>
                  <a:cubicBezTo>
                    <a:pt x="2756350" y="0"/>
                    <a:pt x="2775945" y="19595"/>
                    <a:pt x="2775945" y="43766"/>
                  </a:cubicBezTo>
                  <a:lnTo>
                    <a:pt x="2775945" y="769034"/>
                  </a:lnTo>
                  <a:cubicBezTo>
                    <a:pt x="2775945" y="793205"/>
                    <a:pt x="2756350" y="812800"/>
                    <a:pt x="2732179" y="812800"/>
                  </a:cubicBezTo>
                  <a:lnTo>
                    <a:pt x="43766" y="812800"/>
                  </a:lnTo>
                  <a:cubicBezTo>
                    <a:pt x="19595" y="812800"/>
                    <a:pt x="0" y="793205"/>
                    <a:pt x="0" y="769034"/>
                  </a:cubicBezTo>
                  <a:lnTo>
                    <a:pt x="0" y="43766"/>
                  </a:lnTo>
                  <a:cubicBezTo>
                    <a:pt x="0" y="19595"/>
                    <a:pt x="19595" y="0"/>
                    <a:pt x="43766" y="0"/>
                  </a:cubicBezTo>
                  <a:close/>
                </a:path>
              </a:pathLst>
            </a:custGeom>
            <a:solidFill>
              <a:srgbClr val="B5EBEF"/>
            </a:solidFill>
            <a:ln cap="rnd">
              <a:noFill/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2775945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548418" y="3402590"/>
            <a:ext cx="4985950" cy="62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9"/>
              </a:lnSpc>
            </a:pPr>
            <a:r>
              <a:rPr lang="en-US" sz="17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GCC-specific data integration for enhanced regional accuracy for the model.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548417" y="5816804"/>
            <a:ext cx="5457553" cy="935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 dirty="0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Drift adaptation strategies to maintain performance over time with changing patterns.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816214" y="3199086"/>
            <a:ext cx="724554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u="none" strike="noStrike" spc="167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679274" y="5586707"/>
            <a:ext cx="998435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u="none" strike="noStrike" spc="167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79274" y="8015653"/>
            <a:ext cx="998435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u="none" strike="noStrike" spc="167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48418" y="2930126"/>
            <a:ext cx="4798475" cy="396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GCC-Specific Adaptation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548418" y="5344340"/>
            <a:ext cx="4798475" cy="396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Drift Adaptation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48418" y="8250067"/>
            <a:ext cx="4985950" cy="62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Explainable ML (SHAP/LIME) will be adopted for better interpretability.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48418" y="7777603"/>
            <a:ext cx="4798475" cy="396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Explainable 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C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033217">
            <a:off x="-351761" y="8007045"/>
            <a:ext cx="1798186" cy="1939221"/>
          </a:xfrm>
          <a:custGeom>
            <a:avLst/>
            <a:gdLst/>
            <a:ahLst/>
            <a:cxnLst/>
            <a:rect l="l" t="t" r="r" b="b"/>
            <a:pathLst>
              <a:path w="1798186" h="1939221">
                <a:moveTo>
                  <a:pt x="0" y="0"/>
                </a:moveTo>
                <a:lnTo>
                  <a:pt x="1798187" y="0"/>
                </a:lnTo>
                <a:lnTo>
                  <a:pt x="1798187" y="1939220"/>
                </a:lnTo>
                <a:lnTo>
                  <a:pt x="0" y="1939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77882" y="8414815"/>
            <a:ext cx="2037960" cy="1889745"/>
          </a:xfrm>
          <a:custGeom>
            <a:avLst/>
            <a:gdLst/>
            <a:ahLst/>
            <a:cxnLst/>
            <a:rect l="l" t="t" r="r" b="b"/>
            <a:pathLst>
              <a:path w="2037960" h="1889745">
                <a:moveTo>
                  <a:pt x="0" y="0"/>
                </a:moveTo>
                <a:lnTo>
                  <a:pt x="2037960" y="0"/>
                </a:lnTo>
                <a:lnTo>
                  <a:pt x="2037960" y="1889745"/>
                </a:lnTo>
                <a:lnTo>
                  <a:pt x="0" y="188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508108" y="-2057400"/>
            <a:ext cx="4052975" cy="4114800"/>
          </a:xfrm>
          <a:custGeom>
            <a:avLst/>
            <a:gdLst/>
            <a:ahLst/>
            <a:cxnLst/>
            <a:rect l="l" t="t" r="r" b="b"/>
            <a:pathLst>
              <a:path w="4052975" h="4114800">
                <a:moveTo>
                  <a:pt x="0" y="0"/>
                </a:moveTo>
                <a:lnTo>
                  <a:pt x="4052975" y="0"/>
                </a:lnTo>
                <a:lnTo>
                  <a:pt x="40529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240320" y="-1231735"/>
            <a:ext cx="7683371" cy="6426092"/>
          </a:xfrm>
          <a:custGeom>
            <a:avLst/>
            <a:gdLst/>
            <a:ahLst/>
            <a:cxnLst/>
            <a:rect l="l" t="t" r="r" b="b"/>
            <a:pathLst>
              <a:path w="7683371" h="6426092">
                <a:moveTo>
                  <a:pt x="0" y="0"/>
                </a:moveTo>
                <a:lnTo>
                  <a:pt x="7683371" y="0"/>
                </a:lnTo>
                <a:lnTo>
                  <a:pt x="7683371" y="6426092"/>
                </a:lnTo>
                <a:lnTo>
                  <a:pt x="0" y="64260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557246" y="1164075"/>
            <a:ext cx="9811686" cy="1160088"/>
            <a:chOff x="0" y="0"/>
            <a:chExt cx="2584148" cy="3055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84148" cy="305538"/>
            </a:xfrm>
            <a:custGeom>
              <a:avLst/>
              <a:gdLst/>
              <a:ahLst/>
              <a:cxnLst/>
              <a:rect l="l" t="t" r="r" b="b"/>
              <a:pathLst>
                <a:path w="2584148" h="305538">
                  <a:moveTo>
                    <a:pt x="40242" y="0"/>
                  </a:moveTo>
                  <a:lnTo>
                    <a:pt x="2543906" y="0"/>
                  </a:lnTo>
                  <a:cubicBezTo>
                    <a:pt x="2554579" y="0"/>
                    <a:pt x="2564814" y="4240"/>
                    <a:pt x="2572361" y="11786"/>
                  </a:cubicBezTo>
                  <a:cubicBezTo>
                    <a:pt x="2579908" y="19333"/>
                    <a:pt x="2584148" y="29569"/>
                    <a:pt x="2584148" y="40242"/>
                  </a:cubicBezTo>
                  <a:lnTo>
                    <a:pt x="2584148" y="265296"/>
                  </a:lnTo>
                  <a:cubicBezTo>
                    <a:pt x="2584148" y="275969"/>
                    <a:pt x="2579908" y="286204"/>
                    <a:pt x="2572361" y="293751"/>
                  </a:cubicBezTo>
                  <a:cubicBezTo>
                    <a:pt x="2564814" y="301298"/>
                    <a:pt x="2554579" y="305538"/>
                    <a:pt x="2543906" y="305538"/>
                  </a:cubicBezTo>
                  <a:lnTo>
                    <a:pt x="40242" y="305538"/>
                  </a:lnTo>
                  <a:cubicBezTo>
                    <a:pt x="29569" y="305538"/>
                    <a:pt x="19333" y="301298"/>
                    <a:pt x="11786" y="293751"/>
                  </a:cubicBezTo>
                  <a:cubicBezTo>
                    <a:pt x="4240" y="286204"/>
                    <a:pt x="0" y="275969"/>
                    <a:pt x="0" y="265296"/>
                  </a:cubicBezTo>
                  <a:lnTo>
                    <a:pt x="0" y="40242"/>
                  </a:lnTo>
                  <a:cubicBezTo>
                    <a:pt x="0" y="29569"/>
                    <a:pt x="4240" y="19333"/>
                    <a:pt x="11786" y="11786"/>
                  </a:cubicBezTo>
                  <a:cubicBezTo>
                    <a:pt x="19333" y="4240"/>
                    <a:pt x="29569" y="0"/>
                    <a:pt x="40242" y="0"/>
                  </a:cubicBezTo>
                  <a:close/>
                </a:path>
              </a:pathLst>
            </a:custGeom>
            <a:solidFill>
              <a:srgbClr val="E9917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584148" cy="353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922315" y="1315477"/>
            <a:ext cx="9131187" cy="809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CONCLUSION </a:t>
            </a:r>
          </a:p>
        </p:txBody>
      </p:sp>
      <p:grpSp>
        <p:nvGrpSpPr>
          <p:cNvPr id="10" name="Group 10"/>
          <p:cNvGrpSpPr/>
          <p:nvPr/>
        </p:nvGrpSpPr>
        <p:grpSpPr>
          <a:xfrm rot="5400000">
            <a:off x="5046305" y="6096471"/>
            <a:ext cx="1498088" cy="446650"/>
            <a:chOff x="0" y="0"/>
            <a:chExt cx="361780" cy="107864"/>
          </a:xfrm>
        </p:grpSpPr>
        <p:sp>
          <p:nvSpPr>
            <p:cNvPr id="11" name="Freeform 11"/>
            <p:cNvSpPr/>
            <p:nvPr/>
          </p:nvSpPr>
          <p:spPr>
            <a:xfrm>
              <a:off x="29951" y="11391"/>
              <a:ext cx="301878" cy="96473"/>
            </a:xfrm>
            <a:custGeom>
              <a:avLst/>
              <a:gdLst/>
              <a:ahLst/>
              <a:cxnLst/>
              <a:rect l="l" t="t" r="r" b="b"/>
              <a:pathLst>
                <a:path w="301878" h="96473">
                  <a:moveTo>
                    <a:pt x="186448" y="9783"/>
                  </a:moveTo>
                  <a:lnTo>
                    <a:pt x="296320" y="75299"/>
                  </a:lnTo>
                  <a:cubicBezTo>
                    <a:pt x="300722" y="77924"/>
                    <a:pt x="302829" y="83166"/>
                    <a:pt x="301468" y="88108"/>
                  </a:cubicBezTo>
                  <a:cubicBezTo>
                    <a:pt x="300106" y="93049"/>
                    <a:pt x="295612" y="96473"/>
                    <a:pt x="290486" y="96473"/>
                  </a:cubicBezTo>
                  <a:lnTo>
                    <a:pt x="11392" y="96473"/>
                  </a:lnTo>
                  <a:cubicBezTo>
                    <a:pt x="6266" y="96473"/>
                    <a:pt x="1772" y="93049"/>
                    <a:pt x="411" y="88108"/>
                  </a:cubicBezTo>
                  <a:cubicBezTo>
                    <a:pt x="-951" y="83166"/>
                    <a:pt x="1156" y="77924"/>
                    <a:pt x="5558" y="75299"/>
                  </a:cubicBezTo>
                  <a:lnTo>
                    <a:pt x="115430" y="9783"/>
                  </a:lnTo>
                  <a:cubicBezTo>
                    <a:pt x="137306" y="-3262"/>
                    <a:pt x="164573" y="-3262"/>
                    <a:pt x="186448" y="9783"/>
                  </a:cubicBezTo>
                  <a:close/>
                </a:path>
              </a:pathLst>
            </a:custGeom>
            <a:solidFill>
              <a:srgbClr val="9366E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56528" y="11980"/>
              <a:ext cx="248724" cy="8818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956746" y="4227054"/>
            <a:ext cx="2609972" cy="3677117"/>
            <a:chOff x="0" y="0"/>
            <a:chExt cx="736265" cy="103730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36265" cy="1037303"/>
            </a:xfrm>
            <a:custGeom>
              <a:avLst/>
              <a:gdLst/>
              <a:ahLst/>
              <a:cxnLst/>
              <a:rect l="l" t="t" r="r" b="b"/>
              <a:pathLst>
                <a:path w="736265" h="1037303">
                  <a:moveTo>
                    <a:pt x="106786" y="0"/>
                  </a:moveTo>
                  <a:lnTo>
                    <a:pt x="629479" y="0"/>
                  </a:lnTo>
                  <a:cubicBezTo>
                    <a:pt x="688455" y="0"/>
                    <a:pt x="736265" y="47810"/>
                    <a:pt x="736265" y="106786"/>
                  </a:cubicBezTo>
                  <a:lnTo>
                    <a:pt x="736265" y="930517"/>
                  </a:lnTo>
                  <a:cubicBezTo>
                    <a:pt x="736265" y="958838"/>
                    <a:pt x="725014" y="986000"/>
                    <a:pt x="704988" y="1006026"/>
                  </a:cubicBezTo>
                  <a:cubicBezTo>
                    <a:pt x="684962" y="1026052"/>
                    <a:pt x="657800" y="1037303"/>
                    <a:pt x="629479" y="1037303"/>
                  </a:cubicBezTo>
                  <a:lnTo>
                    <a:pt x="106786" y="1037303"/>
                  </a:lnTo>
                  <a:cubicBezTo>
                    <a:pt x="78465" y="1037303"/>
                    <a:pt x="51303" y="1026052"/>
                    <a:pt x="31277" y="1006026"/>
                  </a:cubicBezTo>
                  <a:cubicBezTo>
                    <a:pt x="11251" y="986000"/>
                    <a:pt x="0" y="958838"/>
                    <a:pt x="0" y="930517"/>
                  </a:cubicBezTo>
                  <a:lnTo>
                    <a:pt x="0" y="106786"/>
                  </a:lnTo>
                  <a:cubicBezTo>
                    <a:pt x="0" y="78465"/>
                    <a:pt x="11251" y="51303"/>
                    <a:pt x="31277" y="31277"/>
                  </a:cubicBezTo>
                  <a:cubicBezTo>
                    <a:pt x="51303" y="11251"/>
                    <a:pt x="78465" y="0"/>
                    <a:pt x="106786" y="0"/>
                  </a:cubicBezTo>
                  <a:close/>
                </a:path>
              </a:pathLst>
            </a:custGeom>
            <a:solidFill>
              <a:srgbClr val="EAE0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736265" cy="1075403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578386" y="3510966"/>
            <a:ext cx="1366693" cy="136669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366E4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219011" y="5902287"/>
            <a:ext cx="2085443" cy="1166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9"/>
              </a:lnSpc>
              <a:spcBef>
                <a:spcPct val="0"/>
              </a:spcBef>
            </a:pPr>
            <a:r>
              <a:rPr lang="en-US" sz="16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Hyb</a:t>
            </a:r>
            <a:r>
              <a:rPr lang="en-US" sz="1699" u="none" strike="noStrike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rid framework improves precision without losing recall.</a:t>
            </a:r>
          </a:p>
        </p:txBody>
      </p:sp>
      <p:grpSp>
        <p:nvGrpSpPr>
          <p:cNvPr id="20" name="Group 20"/>
          <p:cNvGrpSpPr/>
          <p:nvPr/>
        </p:nvGrpSpPr>
        <p:grpSpPr>
          <a:xfrm rot="5400000">
            <a:off x="8295929" y="6096471"/>
            <a:ext cx="1498088" cy="446650"/>
            <a:chOff x="0" y="0"/>
            <a:chExt cx="361780" cy="107864"/>
          </a:xfrm>
        </p:grpSpPr>
        <p:sp>
          <p:nvSpPr>
            <p:cNvPr id="21" name="Freeform 21"/>
            <p:cNvSpPr/>
            <p:nvPr/>
          </p:nvSpPr>
          <p:spPr>
            <a:xfrm>
              <a:off x="29951" y="11391"/>
              <a:ext cx="301878" cy="96473"/>
            </a:xfrm>
            <a:custGeom>
              <a:avLst/>
              <a:gdLst/>
              <a:ahLst/>
              <a:cxnLst/>
              <a:rect l="l" t="t" r="r" b="b"/>
              <a:pathLst>
                <a:path w="301878" h="96473">
                  <a:moveTo>
                    <a:pt x="186448" y="9783"/>
                  </a:moveTo>
                  <a:lnTo>
                    <a:pt x="296320" y="75299"/>
                  </a:lnTo>
                  <a:cubicBezTo>
                    <a:pt x="300722" y="77924"/>
                    <a:pt x="302829" y="83166"/>
                    <a:pt x="301468" y="88108"/>
                  </a:cubicBezTo>
                  <a:cubicBezTo>
                    <a:pt x="300106" y="93049"/>
                    <a:pt x="295612" y="96473"/>
                    <a:pt x="290486" y="96473"/>
                  </a:cubicBezTo>
                  <a:lnTo>
                    <a:pt x="11392" y="96473"/>
                  </a:lnTo>
                  <a:cubicBezTo>
                    <a:pt x="6266" y="96473"/>
                    <a:pt x="1772" y="93049"/>
                    <a:pt x="411" y="88108"/>
                  </a:cubicBezTo>
                  <a:cubicBezTo>
                    <a:pt x="-951" y="83166"/>
                    <a:pt x="1156" y="77924"/>
                    <a:pt x="5558" y="75299"/>
                  </a:cubicBezTo>
                  <a:lnTo>
                    <a:pt x="115430" y="9783"/>
                  </a:lnTo>
                  <a:cubicBezTo>
                    <a:pt x="137306" y="-3262"/>
                    <a:pt x="164573" y="-3262"/>
                    <a:pt x="186448" y="9783"/>
                  </a:cubicBezTo>
                  <a:close/>
                </a:path>
              </a:pathLst>
            </a:custGeom>
            <a:solidFill>
              <a:srgbClr val="E46671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56528" y="11980"/>
              <a:ext cx="248724" cy="8818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26608" y="4227054"/>
            <a:ext cx="2609972" cy="3677117"/>
            <a:chOff x="0" y="0"/>
            <a:chExt cx="736265" cy="103730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36265" cy="1037303"/>
            </a:xfrm>
            <a:custGeom>
              <a:avLst/>
              <a:gdLst/>
              <a:ahLst/>
              <a:cxnLst/>
              <a:rect l="l" t="t" r="r" b="b"/>
              <a:pathLst>
                <a:path w="736265" h="1037303">
                  <a:moveTo>
                    <a:pt x="106786" y="0"/>
                  </a:moveTo>
                  <a:lnTo>
                    <a:pt x="629479" y="0"/>
                  </a:lnTo>
                  <a:cubicBezTo>
                    <a:pt x="688455" y="0"/>
                    <a:pt x="736265" y="47810"/>
                    <a:pt x="736265" y="106786"/>
                  </a:cubicBezTo>
                  <a:lnTo>
                    <a:pt x="736265" y="930517"/>
                  </a:lnTo>
                  <a:cubicBezTo>
                    <a:pt x="736265" y="958838"/>
                    <a:pt x="725014" y="986000"/>
                    <a:pt x="704988" y="1006026"/>
                  </a:cubicBezTo>
                  <a:cubicBezTo>
                    <a:pt x="684962" y="1026052"/>
                    <a:pt x="657800" y="1037303"/>
                    <a:pt x="629479" y="1037303"/>
                  </a:cubicBezTo>
                  <a:lnTo>
                    <a:pt x="106786" y="1037303"/>
                  </a:lnTo>
                  <a:cubicBezTo>
                    <a:pt x="78465" y="1037303"/>
                    <a:pt x="51303" y="1026052"/>
                    <a:pt x="31277" y="1006026"/>
                  </a:cubicBezTo>
                  <a:cubicBezTo>
                    <a:pt x="11251" y="986000"/>
                    <a:pt x="0" y="958838"/>
                    <a:pt x="0" y="930517"/>
                  </a:cubicBezTo>
                  <a:lnTo>
                    <a:pt x="0" y="106786"/>
                  </a:lnTo>
                  <a:cubicBezTo>
                    <a:pt x="0" y="78465"/>
                    <a:pt x="11251" y="51303"/>
                    <a:pt x="31277" y="31277"/>
                  </a:cubicBezTo>
                  <a:cubicBezTo>
                    <a:pt x="51303" y="11251"/>
                    <a:pt x="78465" y="0"/>
                    <a:pt x="106786" y="0"/>
                  </a:cubicBezTo>
                  <a:close/>
                </a:path>
              </a:pathLst>
            </a:custGeom>
            <a:solidFill>
              <a:srgbClr val="FFBEC4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736265" cy="1075403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848248" y="3510966"/>
            <a:ext cx="1366693" cy="1366693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6671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6488873" y="5905500"/>
            <a:ext cx="2085443" cy="1461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dirty="0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Ma</a:t>
            </a:r>
            <a:r>
              <a:rPr lang="en-US" sz="1700" u="none" strike="noStrike" dirty="0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intains 85.81% recall, 28.22% precision for effective fraud detection.</a:t>
            </a:r>
          </a:p>
        </p:txBody>
      </p:sp>
      <p:grpSp>
        <p:nvGrpSpPr>
          <p:cNvPr id="30" name="Group 30"/>
          <p:cNvGrpSpPr/>
          <p:nvPr/>
        </p:nvGrpSpPr>
        <p:grpSpPr>
          <a:xfrm rot="5400000">
            <a:off x="11540979" y="6096471"/>
            <a:ext cx="1498088" cy="446650"/>
            <a:chOff x="0" y="0"/>
            <a:chExt cx="361780" cy="107864"/>
          </a:xfrm>
        </p:grpSpPr>
        <p:sp>
          <p:nvSpPr>
            <p:cNvPr id="31" name="Freeform 31"/>
            <p:cNvSpPr/>
            <p:nvPr/>
          </p:nvSpPr>
          <p:spPr>
            <a:xfrm>
              <a:off x="29951" y="11391"/>
              <a:ext cx="301878" cy="96473"/>
            </a:xfrm>
            <a:custGeom>
              <a:avLst/>
              <a:gdLst/>
              <a:ahLst/>
              <a:cxnLst/>
              <a:rect l="l" t="t" r="r" b="b"/>
              <a:pathLst>
                <a:path w="301878" h="96473">
                  <a:moveTo>
                    <a:pt x="186448" y="9783"/>
                  </a:moveTo>
                  <a:lnTo>
                    <a:pt x="296320" y="75299"/>
                  </a:lnTo>
                  <a:cubicBezTo>
                    <a:pt x="300722" y="77924"/>
                    <a:pt x="302829" y="83166"/>
                    <a:pt x="301468" y="88108"/>
                  </a:cubicBezTo>
                  <a:cubicBezTo>
                    <a:pt x="300106" y="93049"/>
                    <a:pt x="295612" y="96473"/>
                    <a:pt x="290486" y="96473"/>
                  </a:cubicBezTo>
                  <a:lnTo>
                    <a:pt x="11392" y="96473"/>
                  </a:lnTo>
                  <a:cubicBezTo>
                    <a:pt x="6266" y="96473"/>
                    <a:pt x="1772" y="93049"/>
                    <a:pt x="411" y="88108"/>
                  </a:cubicBezTo>
                  <a:cubicBezTo>
                    <a:pt x="-951" y="83166"/>
                    <a:pt x="1156" y="77924"/>
                    <a:pt x="5558" y="75299"/>
                  </a:cubicBezTo>
                  <a:lnTo>
                    <a:pt x="115430" y="9783"/>
                  </a:lnTo>
                  <a:cubicBezTo>
                    <a:pt x="137306" y="-3262"/>
                    <a:pt x="164573" y="-3262"/>
                    <a:pt x="186448" y="9783"/>
                  </a:cubicBezTo>
                  <a:close/>
                </a:path>
              </a:pathLst>
            </a:custGeom>
            <a:solidFill>
              <a:srgbClr val="DDA707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56528" y="11980"/>
              <a:ext cx="248724" cy="8818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476232" y="4227054"/>
            <a:ext cx="2609972" cy="3677117"/>
            <a:chOff x="0" y="0"/>
            <a:chExt cx="736265" cy="103730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36265" cy="1037303"/>
            </a:xfrm>
            <a:custGeom>
              <a:avLst/>
              <a:gdLst/>
              <a:ahLst/>
              <a:cxnLst/>
              <a:rect l="l" t="t" r="r" b="b"/>
              <a:pathLst>
                <a:path w="736265" h="1037303">
                  <a:moveTo>
                    <a:pt x="106786" y="0"/>
                  </a:moveTo>
                  <a:lnTo>
                    <a:pt x="629479" y="0"/>
                  </a:lnTo>
                  <a:cubicBezTo>
                    <a:pt x="688455" y="0"/>
                    <a:pt x="736265" y="47810"/>
                    <a:pt x="736265" y="106786"/>
                  </a:cubicBezTo>
                  <a:lnTo>
                    <a:pt x="736265" y="930517"/>
                  </a:lnTo>
                  <a:cubicBezTo>
                    <a:pt x="736265" y="958838"/>
                    <a:pt x="725014" y="986000"/>
                    <a:pt x="704988" y="1006026"/>
                  </a:cubicBezTo>
                  <a:cubicBezTo>
                    <a:pt x="684962" y="1026052"/>
                    <a:pt x="657800" y="1037303"/>
                    <a:pt x="629479" y="1037303"/>
                  </a:cubicBezTo>
                  <a:lnTo>
                    <a:pt x="106786" y="1037303"/>
                  </a:lnTo>
                  <a:cubicBezTo>
                    <a:pt x="78465" y="1037303"/>
                    <a:pt x="51303" y="1026052"/>
                    <a:pt x="31277" y="1006026"/>
                  </a:cubicBezTo>
                  <a:cubicBezTo>
                    <a:pt x="11251" y="986000"/>
                    <a:pt x="0" y="958838"/>
                    <a:pt x="0" y="930517"/>
                  </a:cubicBezTo>
                  <a:lnTo>
                    <a:pt x="0" y="106786"/>
                  </a:lnTo>
                  <a:cubicBezTo>
                    <a:pt x="0" y="78465"/>
                    <a:pt x="11251" y="51303"/>
                    <a:pt x="31277" y="31277"/>
                  </a:cubicBezTo>
                  <a:cubicBezTo>
                    <a:pt x="51303" y="11251"/>
                    <a:pt x="78465" y="0"/>
                    <a:pt x="106786" y="0"/>
                  </a:cubicBezTo>
                  <a:close/>
                </a:path>
              </a:pathLst>
            </a:custGeom>
            <a:solidFill>
              <a:srgbClr val="FFE8A3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736265" cy="1075403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097872" y="3510966"/>
            <a:ext cx="1366693" cy="1366693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A707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9738497" y="6057900"/>
            <a:ext cx="2085443" cy="871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dirty="0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-US" sz="1700" u="none" strike="noStrike" dirty="0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,192 fewer daily false alerts for better efficiency.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2721282" y="4227054"/>
            <a:ext cx="2609972" cy="3677117"/>
            <a:chOff x="0" y="0"/>
            <a:chExt cx="736265" cy="103730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36265" cy="1037303"/>
            </a:xfrm>
            <a:custGeom>
              <a:avLst/>
              <a:gdLst/>
              <a:ahLst/>
              <a:cxnLst/>
              <a:rect l="l" t="t" r="r" b="b"/>
              <a:pathLst>
                <a:path w="736265" h="1037303">
                  <a:moveTo>
                    <a:pt x="106786" y="0"/>
                  </a:moveTo>
                  <a:lnTo>
                    <a:pt x="629479" y="0"/>
                  </a:lnTo>
                  <a:cubicBezTo>
                    <a:pt x="688455" y="0"/>
                    <a:pt x="736265" y="47810"/>
                    <a:pt x="736265" y="106786"/>
                  </a:cubicBezTo>
                  <a:lnTo>
                    <a:pt x="736265" y="930517"/>
                  </a:lnTo>
                  <a:cubicBezTo>
                    <a:pt x="736265" y="958838"/>
                    <a:pt x="725014" y="986000"/>
                    <a:pt x="704988" y="1006026"/>
                  </a:cubicBezTo>
                  <a:cubicBezTo>
                    <a:pt x="684962" y="1026052"/>
                    <a:pt x="657800" y="1037303"/>
                    <a:pt x="629479" y="1037303"/>
                  </a:cubicBezTo>
                  <a:lnTo>
                    <a:pt x="106786" y="1037303"/>
                  </a:lnTo>
                  <a:cubicBezTo>
                    <a:pt x="78465" y="1037303"/>
                    <a:pt x="51303" y="1026052"/>
                    <a:pt x="31277" y="1006026"/>
                  </a:cubicBezTo>
                  <a:cubicBezTo>
                    <a:pt x="11251" y="986000"/>
                    <a:pt x="0" y="958838"/>
                    <a:pt x="0" y="930517"/>
                  </a:cubicBezTo>
                  <a:lnTo>
                    <a:pt x="0" y="106786"/>
                  </a:lnTo>
                  <a:cubicBezTo>
                    <a:pt x="0" y="78465"/>
                    <a:pt x="11251" y="51303"/>
                    <a:pt x="31277" y="31277"/>
                  </a:cubicBezTo>
                  <a:cubicBezTo>
                    <a:pt x="51303" y="11251"/>
                    <a:pt x="78465" y="0"/>
                    <a:pt x="106786" y="0"/>
                  </a:cubicBezTo>
                  <a:close/>
                </a:path>
              </a:pathLst>
            </a:custGeom>
            <a:solidFill>
              <a:srgbClr val="B5EBEF"/>
            </a:solidFill>
            <a:ln cap="rnd">
              <a:noFill/>
              <a:prstDash val="solid"/>
              <a:round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736265" cy="1075403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3342922" y="3510966"/>
            <a:ext cx="1366693" cy="1366693"/>
            <a:chOff x="0" y="0"/>
            <a:chExt cx="812800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AEB6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2983546" y="5754643"/>
            <a:ext cx="2085443" cy="1461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1700" u="none" strike="noStrike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odular, deployable for GCC financial systems for widespread implementation.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799696" y="3816494"/>
            <a:ext cx="924073" cy="67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069558" y="3816494"/>
            <a:ext cx="924073" cy="67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319181" y="3816494"/>
            <a:ext cx="924073" cy="67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3564231" y="3816494"/>
            <a:ext cx="924073" cy="67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261150" y="4987717"/>
            <a:ext cx="2001165" cy="682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Precision Improvement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31012" y="4987717"/>
            <a:ext cx="2001165" cy="682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Quantitative Results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780636" y="4987717"/>
            <a:ext cx="2001165" cy="682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False Alert Reduction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3025685" y="5163906"/>
            <a:ext cx="2001165" cy="330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Deployability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1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264435">
            <a:off x="-1705756" y="8501231"/>
            <a:ext cx="5423884" cy="4506754"/>
          </a:xfrm>
          <a:custGeom>
            <a:avLst/>
            <a:gdLst/>
            <a:ahLst/>
            <a:cxnLst/>
            <a:rect l="l" t="t" r="r" b="b"/>
            <a:pathLst>
              <a:path w="5423884" h="4506754">
                <a:moveTo>
                  <a:pt x="0" y="0"/>
                </a:moveTo>
                <a:lnTo>
                  <a:pt x="5423883" y="0"/>
                </a:lnTo>
                <a:lnTo>
                  <a:pt x="5423883" y="4506754"/>
                </a:lnTo>
                <a:lnTo>
                  <a:pt x="0" y="4506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3405253">
            <a:off x="-2763898" y="-1158774"/>
            <a:ext cx="5210860" cy="3643248"/>
          </a:xfrm>
          <a:custGeom>
            <a:avLst/>
            <a:gdLst/>
            <a:ahLst/>
            <a:cxnLst/>
            <a:rect l="l" t="t" r="r" b="b"/>
            <a:pathLst>
              <a:path w="5210860" h="3643248">
                <a:moveTo>
                  <a:pt x="0" y="0"/>
                </a:moveTo>
                <a:lnTo>
                  <a:pt x="5210860" y="0"/>
                </a:lnTo>
                <a:lnTo>
                  <a:pt x="5210860" y="3643248"/>
                </a:lnTo>
                <a:lnTo>
                  <a:pt x="0" y="36432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982801" y="1028700"/>
            <a:ext cx="8322398" cy="1160088"/>
            <a:chOff x="0" y="0"/>
            <a:chExt cx="2191907" cy="3055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1907" cy="305538"/>
            </a:xfrm>
            <a:custGeom>
              <a:avLst/>
              <a:gdLst/>
              <a:ahLst/>
              <a:cxnLst/>
              <a:rect l="l" t="t" r="r" b="b"/>
              <a:pathLst>
                <a:path w="2191907" h="305538">
                  <a:moveTo>
                    <a:pt x="47443" y="0"/>
                  </a:moveTo>
                  <a:lnTo>
                    <a:pt x="2144464" y="0"/>
                  </a:lnTo>
                  <a:cubicBezTo>
                    <a:pt x="2170666" y="0"/>
                    <a:pt x="2191907" y="21241"/>
                    <a:pt x="2191907" y="47443"/>
                  </a:cubicBezTo>
                  <a:lnTo>
                    <a:pt x="2191907" y="258095"/>
                  </a:lnTo>
                  <a:cubicBezTo>
                    <a:pt x="2191907" y="284297"/>
                    <a:pt x="2170666" y="305538"/>
                    <a:pt x="2144464" y="305538"/>
                  </a:cubicBezTo>
                  <a:lnTo>
                    <a:pt x="47443" y="305538"/>
                  </a:lnTo>
                  <a:cubicBezTo>
                    <a:pt x="21241" y="305538"/>
                    <a:pt x="0" y="284297"/>
                    <a:pt x="0" y="258095"/>
                  </a:cubicBezTo>
                  <a:lnTo>
                    <a:pt x="0" y="47443"/>
                  </a:lnTo>
                  <a:cubicBezTo>
                    <a:pt x="0" y="21241"/>
                    <a:pt x="21241" y="0"/>
                    <a:pt x="47443" y="0"/>
                  </a:cubicBezTo>
                  <a:close/>
                </a:path>
              </a:pathLst>
            </a:custGeom>
            <a:solidFill>
              <a:srgbClr val="D8CFE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191907" cy="353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215488" y="1180102"/>
            <a:ext cx="7790483" cy="809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REFERENCES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57310" y="3379904"/>
            <a:ext cx="14773379" cy="482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[1] K. I. Al-Daoud and I. A. Abu-AlSondos, "Robust AI for Financial Fraud Detection in the GCC: A Hybrid Framework for Imbalance, Drift, and Adversarial Threats," J. Theor. Appl. Electron. Commer. Res., vol. 20, no. 2, p. 121, 2025.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[2] N. V. Chawla et al., "SMOTE: Synthetic Minority Over-sampling Technique," J. Artif. Intell. Res., vol. 16, pp. 321–357, 2002.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[3] A. Dal Pozzolo et al., "Learned lessons in credit card fraud detection from a practitioner perspective," Expert Syst. Appl., vol. 41, no. 10, pp. 4915–4928, 2014.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[4] T. Chen and C. Guestrin, "XGBoost: A scalable tree boosting system," in Proc. ACM SIGKDD, 2016, pp. 785–794.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[5] H. He and E. A. Garcia, "Learning from imbalanced data," IEEE Trans. Knowl. Data Eng., vol. 21, no. 9, pp. 1263–1284, 2009.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1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942535" y="2282642"/>
            <a:ext cx="8375570" cy="5721715"/>
            <a:chOff x="0" y="0"/>
            <a:chExt cx="2205911" cy="1506954"/>
          </a:xfrm>
          <a:solidFill>
            <a:srgbClr val="DCAED2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2205911" cy="1506954"/>
            </a:xfrm>
            <a:custGeom>
              <a:avLst/>
              <a:gdLst/>
              <a:ahLst/>
              <a:cxnLst/>
              <a:rect l="l" t="t" r="r" b="b"/>
              <a:pathLst>
                <a:path w="2205911" h="1506954">
                  <a:moveTo>
                    <a:pt x="0" y="0"/>
                  </a:moveTo>
                  <a:lnTo>
                    <a:pt x="2205911" y="0"/>
                  </a:lnTo>
                  <a:lnTo>
                    <a:pt x="2205911" y="1506954"/>
                  </a:lnTo>
                  <a:lnTo>
                    <a:pt x="0" y="1506954"/>
                  </a:lnTo>
                  <a:close/>
                </a:path>
              </a:pathLst>
            </a:custGeom>
            <a:grpFill/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205911" cy="155457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942535" y="2282642"/>
            <a:ext cx="8375570" cy="988552"/>
            <a:chOff x="0" y="0"/>
            <a:chExt cx="2205911" cy="2603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05911" cy="260359"/>
            </a:xfrm>
            <a:custGeom>
              <a:avLst/>
              <a:gdLst/>
              <a:ahLst/>
              <a:cxnLst/>
              <a:rect l="l" t="t" r="r" b="b"/>
              <a:pathLst>
                <a:path w="2205911" h="260359">
                  <a:moveTo>
                    <a:pt x="0" y="0"/>
                  </a:moveTo>
                  <a:lnTo>
                    <a:pt x="2205911" y="0"/>
                  </a:lnTo>
                  <a:lnTo>
                    <a:pt x="2205911" y="260359"/>
                  </a:lnTo>
                  <a:lnTo>
                    <a:pt x="0" y="260359"/>
                  </a:lnTo>
                  <a:close/>
                </a:path>
              </a:pathLst>
            </a:custGeom>
            <a:solidFill>
              <a:srgbClr val="D8CFEE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205911" cy="3079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7264435">
            <a:off x="-1927855" y="7511232"/>
            <a:ext cx="5423884" cy="4506754"/>
          </a:xfrm>
          <a:custGeom>
            <a:avLst/>
            <a:gdLst/>
            <a:ahLst/>
            <a:cxnLst/>
            <a:rect l="l" t="t" r="r" b="b"/>
            <a:pathLst>
              <a:path w="5423884" h="4506754">
                <a:moveTo>
                  <a:pt x="0" y="0"/>
                </a:moveTo>
                <a:lnTo>
                  <a:pt x="5423884" y="0"/>
                </a:lnTo>
                <a:lnTo>
                  <a:pt x="5423884" y="4506754"/>
                </a:lnTo>
                <a:lnTo>
                  <a:pt x="0" y="4506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2546526">
            <a:off x="4728527" y="1856624"/>
            <a:ext cx="1075583" cy="1013003"/>
          </a:xfrm>
          <a:custGeom>
            <a:avLst/>
            <a:gdLst/>
            <a:ahLst/>
            <a:cxnLst/>
            <a:rect l="l" t="t" r="r" b="b"/>
            <a:pathLst>
              <a:path w="1075583" h="1013003">
                <a:moveTo>
                  <a:pt x="0" y="0"/>
                </a:moveTo>
                <a:lnTo>
                  <a:pt x="1075582" y="0"/>
                </a:lnTo>
                <a:lnTo>
                  <a:pt x="1075582" y="1013003"/>
                </a:lnTo>
                <a:lnTo>
                  <a:pt x="0" y="1013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5400000">
            <a:off x="11856528" y="1811599"/>
            <a:ext cx="361556" cy="1930638"/>
          </a:xfrm>
          <a:custGeom>
            <a:avLst/>
            <a:gdLst/>
            <a:ahLst/>
            <a:cxnLst/>
            <a:rect l="l" t="t" r="r" b="b"/>
            <a:pathLst>
              <a:path w="361556" h="1930638">
                <a:moveTo>
                  <a:pt x="0" y="0"/>
                </a:moveTo>
                <a:lnTo>
                  <a:pt x="361556" y="0"/>
                </a:lnTo>
                <a:lnTo>
                  <a:pt x="361556" y="1930638"/>
                </a:lnTo>
                <a:lnTo>
                  <a:pt x="0" y="1930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808352" y="8595003"/>
            <a:ext cx="448001" cy="448001"/>
          </a:xfrm>
          <a:custGeom>
            <a:avLst/>
            <a:gdLst/>
            <a:ahLst/>
            <a:cxnLst/>
            <a:rect l="l" t="t" r="r" b="b"/>
            <a:pathLst>
              <a:path w="448001" h="448001">
                <a:moveTo>
                  <a:pt x="0" y="0"/>
                </a:moveTo>
                <a:lnTo>
                  <a:pt x="448001" y="0"/>
                </a:lnTo>
                <a:lnTo>
                  <a:pt x="448001" y="448001"/>
                </a:lnTo>
                <a:lnTo>
                  <a:pt x="0" y="4480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3405253">
            <a:off x="-2711938" y="2195664"/>
            <a:ext cx="5210860" cy="3643248"/>
          </a:xfrm>
          <a:custGeom>
            <a:avLst/>
            <a:gdLst/>
            <a:ahLst/>
            <a:cxnLst/>
            <a:rect l="l" t="t" r="r" b="b"/>
            <a:pathLst>
              <a:path w="5210860" h="3643248">
                <a:moveTo>
                  <a:pt x="0" y="0"/>
                </a:moveTo>
                <a:lnTo>
                  <a:pt x="5210860" y="0"/>
                </a:lnTo>
                <a:lnTo>
                  <a:pt x="5210860" y="3643248"/>
                </a:lnTo>
                <a:lnTo>
                  <a:pt x="0" y="36432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4023291">
            <a:off x="14764446" y="5375047"/>
            <a:ext cx="1823029" cy="1517671"/>
          </a:xfrm>
          <a:custGeom>
            <a:avLst/>
            <a:gdLst/>
            <a:ahLst/>
            <a:cxnLst/>
            <a:rect l="l" t="t" r="r" b="b"/>
            <a:pathLst>
              <a:path w="1823029" h="1517671">
                <a:moveTo>
                  <a:pt x="0" y="0"/>
                </a:moveTo>
                <a:lnTo>
                  <a:pt x="1823029" y="0"/>
                </a:lnTo>
                <a:lnTo>
                  <a:pt x="1823029" y="1517671"/>
                </a:lnTo>
                <a:lnTo>
                  <a:pt x="0" y="151767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494197" y="4338636"/>
            <a:ext cx="7299606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 i="1" dirty="0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917</Words>
  <Application>Microsoft Office PowerPoint</Application>
  <PresentationFormat>Custom</PresentationFormat>
  <Paragraphs>174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Poppins Italics</vt:lpstr>
      <vt:lpstr>Poppins Bold</vt:lpstr>
      <vt:lpstr>Montserrat Ultra-Bold</vt:lpstr>
      <vt:lpstr>Roboto Bold</vt:lpstr>
      <vt:lpstr>Calibri</vt:lpstr>
      <vt:lpstr>Poppins</vt:lpstr>
      <vt:lpstr>Arial</vt:lpstr>
      <vt:lpstr>Roboto</vt:lpstr>
      <vt:lpstr>Montserrat Bold</vt:lpstr>
      <vt:lpstr>Montserrat</vt:lpstr>
      <vt:lpstr>Poppins Semi-Bold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Company Profile Presentation</dc:title>
  <cp:lastModifiedBy>Kazi Namira Meyheg</cp:lastModifiedBy>
  <cp:revision>2</cp:revision>
  <dcterms:created xsi:type="dcterms:W3CDTF">2006-08-16T00:00:00Z</dcterms:created>
  <dcterms:modified xsi:type="dcterms:W3CDTF">2026-01-19T18:31:10Z</dcterms:modified>
  <dc:identifier>DAG-2yocCUY</dc:identifier>
</cp:coreProperties>
</file>